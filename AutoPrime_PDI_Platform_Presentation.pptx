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2563EB"/>
          </a:solidFill>
          <a:ln w="12700">
            <a:solidFill>
              <a:srgbClr val="333333"/>
            </a:solidFill>
            <a:prstDash val="solid"/>
          </a:ln>
        </p:spPr>
      </p:sp>
      <p:sp>
        <p:nvSpPr>
          <p:cNvPr id="3" name="Shape 1"/>
          <p:cNvSpPr/>
          <p:nvPr/>
        </p:nvSpPr>
        <p:spPr>
          <a:xfrm>
            <a:off x="1097280" y="1097280"/>
            <a:ext cx="3474720" cy="365760"/>
          </a:xfrm>
          <a:prstGeom prst="roundRect">
            <a:avLst>
              <a:gd name="adj" fmla="val 25000"/>
            </a:avLst>
          </a:prstGeom>
          <a:solidFill>
            <a:srgbClr val="1E293B"/>
          </a:solidFill>
          <a:ln w="19050">
            <a:solidFill>
              <a:srgbClr val="2563EB"/>
            </a:solidFill>
            <a:prstDash val="solid"/>
          </a:ln>
        </p:spPr>
      </p:sp>
      <p:sp>
        <p:nvSpPr>
          <p:cNvPr id="4" name="Text 2"/>
          <p:cNvSpPr/>
          <p:nvPr/>
        </p:nvSpPr>
        <p:spPr>
          <a:xfrm>
            <a:off x="1097280" y="1097280"/>
            <a:ext cx="3474720" cy="365760"/>
          </a:xfrm>
          <a:prstGeom prst="rect">
            <a:avLst/>
          </a:prstGeom>
          <a:noFill/>
          <a:ln/>
        </p:spPr>
        <p:txBody>
          <a:bodyPr wrap="square" rtlCol="0" anchor="ctr"/>
          <a:lstStyle/>
          <a:p>
            <a:pPr algn="ctr" indent="0" marL="0">
              <a:buNone/>
            </a:pPr>
            <a:r>
              <a:rPr lang="en-US" sz="950" b="1" dirty="0">
                <a:solidFill>
                  <a:srgbClr val="60A5FA"/>
                </a:solidFill>
                <a:latin typeface="Segoe UI" pitchFamily="34" charset="0"/>
                <a:ea typeface="Segoe UI" pitchFamily="34" charset="-122"/>
                <a:cs typeface="Segoe UI" pitchFamily="34" charset="-120"/>
              </a:rPr>
              <a:t>ENTERPRISE AUTOMOTIVE OPERATING SYSTEM</a:t>
            </a:r>
            <a:endParaRPr lang="en-US" sz="950" dirty="0"/>
          </a:p>
        </p:txBody>
      </p:sp>
      <p:sp>
        <p:nvSpPr>
          <p:cNvPr id="5" name="Text 3"/>
          <p:cNvSpPr/>
          <p:nvPr/>
        </p:nvSpPr>
        <p:spPr>
          <a:xfrm>
            <a:off x="1097280" y="1691640"/>
            <a:ext cx="9601200" cy="1005840"/>
          </a:xfrm>
          <a:prstGeom prst="rect">
            <a:avLst/>
          </a:prstGeom>
          <a:noFill/>
          <a:ln/>
        </p:spPr>
        <p:txBody>
          <a:bodyPr wrap="square" rtlCol="0" anchor="ctr"/>
          <a:lstStyle/>
          <a:p>
            <a:pPr indent="0" marL="0">
              <a:buNone/>
            </a:pPr>
            <a:r>
              <a:rPr lang="en-US" sz="3800" b="1" dirty="0">
                <a:solidFill>
                  <a:srgbClr val="FFFFFF"/>
                </a:solidFill>
                <a:latin typeface="Segoe UI" pitchFamily="34" charset="0"/>
                <a:ea typeface="Segoe UI" pitchFamily="34" charset="-122"/>
                <a:cs typeface="Segoe UI" pitchFamily="34" charset="-120"/>
              </a:rPr>
              <a:t>AutoPrime PDI Platform</a:t>
            </a:r>
            <a:endParaRPr lang="en-US" sz="3800" dirty="0"/>
          </a:p>
        </p:txBody>
      </p:sp>
      <p:sp>
        <p:nvSpPr>
          <p:cNvPr id="6" name="Text 4"/>
          <p:cNvSpPr/>
          <p:nvPr/>
        </p:nvSpPr>
        <p:spPr>
          <a:xfrm>
            <a:off x="1097280" y="2788920"/>
            <a:ext cx="9601200" cy="822960"/>
          </a:xfrm>
          <a:prstGeom prst="rect">
            <a:avLst/>
          </a:prstGeom>
          <a:noFill/>
          <a:ln/>
        </p:spPr>
        <p:txBody>
          <a:bodyPr wrap="square" rtlCol="0" anchor="ctr"/>
          <a:lstStyle/>
          <a:p>
            <a:pPr indent="0" marL="0">
              <a:lnSpc>
                <a:spcPts val="2200"/>
              </a:lnSpc>
              <a:buNone/>
            </a:pPr>
            <a:r>
              <a:rPr lang="en-US" sz="1400" dirty="0">
                <a:solidFill>
                  <a:srgbClr val="94A3B8"/>
                </a:solidFill>
                <a:latin typeface="Segoe UI" pitchFamily="34" charset="0"/>
                <a:ea typeface="Segoe UI" pitchFamily="34" charset="-122"/>
                <a:cs typeface="Segoe UI" pitchFamily="34" charset="-120"/>
              </a:rPr>
              <a:t>Pre-Delivery Inspection (PDI), Yard Fleet &amp; Customer Bookings Management Platform</a:t>
            </a:r>
            <a:endParaRPr lang="en-US" sz="1400" dirty="0"/>
          </a:p>
          <a:p>
            <a:pPr indent="0" marL="0">
              <a:lnSpc>
                <a:spcPts val="2200"/>
              </a:lnSpc>
              <a:buNone/>
            </a:pPr>
            <a:r>
              <a:rPr lang="en-US" sz="1400" dirty="0">
                <a:solidFill>
                  <a:srgbClr val="94A3B8"/>
                </a:solidFill>
                <a:latin typeface="Segoe UI" pitchFamily="34" charset="0"/>
                <a:ea typeface="Segoe UI" pitchFamily="34" charset="-122"/>
                <a:cs typeface="Segoe UI" pitchFamily="34" charset="-120"/>
              </a:rPr>
              <a:t>संपूर्ण डीलरशिप संचालन, स्टॉकयार्ड ट्रैकिंग एवं डिजिटल डिलीवरी क्लीयरेंस गाइड</a:t>
            </a:r>
            <a:endParaRPr lang="en-US" sz="1400" dirty="0"/>
          </a:p>
        </p:txBody>
      </p:sp>
      <p:sp>
        <p:nvSpPr>
          <p:cNvPr id="7" name="Shape 5"/>
          <p:cNvSpPr/>
          <p:nvPr/>
        </p:nvSpPr>
        <p:spPr>
          <a:xfrm>
            <a:off x="1097280" y="4023360"/>
            <a:ext cx="3108960" cy="1645920"/>
          </a:xfrm>
          <a:prstGeom prst="roundRect">
            <a:avLst>
              <a:gd name="adj" fmla="val 6667"/>
            </a:avLst>
          </a:prstGeom>
          <a:solidFill>
            <a:srgbClr val="1E293B"/>
          </a:solidFill>
          <a:ln w="12700">
            <a:solidFill>
              <a:srgbClr val="334155"/>
            </a:solidFill>
            <a:prstDash val="solid"/>
          </a:ln>
        </p:spPr>
      </p:sp>
      <p:sp>
        <p:nvSpPr>
          <p:cNvPr id="8" name="Shape 6"/>
          <p:cNvSpPr/>
          <p:nvPr/>
        </p:nvSpPr>
        <p:spPr>
          <a:xfrm>
            <a:off x="1097280" y="4023360"/>
            <a:ext cx="73152" cy="1645920"/>
          </a:xfrm>
          <a:prstGeom prst="rect">
            <a:avLst/>
          </a:prstGeom>
          <a:solidFill>
            <a:srgbClr val="2563EB"/>
          </a:solidFill>
          <a:ln w="12700">
            <a:solidFill>
              <a:srgbClr val="333333"/>
            </a:solidFill>
            <a:prstDash val="solid"/>
          </a:ln>
        </p:spPr>
      </p:sp>
      <p:sp>
        <p:nvSpPr>
          <p:cNvPr id="9" name="Text 7"/>
          <p:cNvSpPr/>
          <p:nvPr/>
        </p:nvSpPr>
        <p:spPr>
          <a:xfrm>
            <a:off x="1325880" y="4206240"/>
            <a:ext cx="274320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100% Inspection SOP</a:t>
            </a:r>
            <a:endParaRPr lang="en-US" sz="1200" dirty="0"/>
          </a:p>
        </p:txBody>
      </p:sp>
      <p:sp>
        <p:nvSpPr>
          <p:cNvPr id="10" name="Text 8"/>
          <p:cNvSpPr/>
          <p:nvPr/>
        </p:nvSpPr>
        <p:spPr>
          <a:xfrm>
            <a:off x="1325880" y="4572000"/>
            <a:ext cx="2697480" cy="914400"/>
          </a:xfrm>
          <a:prstGeom prst="rect">
            <a:avLst/>
          </a:prstGeom>
          <a:noFill/>
          <a:ln/>
        </p:spPr>
        <p:txBody>
          <a:bodyPr wrap="square" rtlCol="0" anchor="ctr"/>
          <a:lstStyle/>
          <a:p>
            <a:pPr indent="0" marL="0">
              <a:lnSpc>
                <a:spcPts val="1500"/>
              </a:lnSpc>
              <a:buNone/>
            </a:pPr>
            <a:r>
              <a:rPr lang="en-US" sz="1000" dirty="0">
                <a:solidFill>
                  <a:srgbClr val="94A3B8"/>
                </a:solidFill>
                <a:latin typeface="Segoe UI" pitchFamily="34" charset="0"/>
                <a:ea typeface="Segoe UI" pitchFamily="34" charset="-122"/>
                <a:cs typeface="Segoe UI" pitchFamily="34" charset="-120"/>
              </a:rPr>
              <a:t>Tata &amp; Hyundai official 7-category checkpoints with digital defect tracking</a:t>
            </a:r>
            <a:endParaRPr lang="en-US" sz="1000" dirty="0"/>
          </a:p>
        </p:txBody>
      </p:sp>
      <p:sp>
        <p:nvSpPr>
          <p:cNvPr id="11" name="Shape 9"/>
          <p:cNvSpPr/>
          <p:nvPr/>
        </p:nvSpPr>
        <p:spPr>
          <a:xfrm>
            <a:off x="4434840" y="4023360"/>
            <a:ext cx="3108960" cy="1645920"/>
          </a:xfrm>
          <a:prstGeom prst="roundRect">
            <a:avLst>
              <a:gd name="adj" fmla="val 6667"/>
            </a:avLst>
          </a:prstGeom>
          <a:solidFill>
            <a:srgbClr val="1E293B"/>
          </a:solidFill>
          <a:ln w="12700">
            <a:solidFill>
              <a:srgbClr val="334155"/>
            </a:solidFill>
            <a:prstDash val="solid"/>
          </a:ln>
        </p:spPr>
      </p:sp>
      <p:sp>
        <p:nvSpPr>
          <p:cNvPr id="12" name="Shape 10"/>
          <p:cNvSpPr/>
          <p:nvPr/>
        </p:nvSpPr>
        <p:spPr>
          <a:xfrm>
            <a:off x="4434840" y="4023360"/>
            <a:ext cx="73152" cy="1645920"/>
          </a:xfrm>
          <a:prstGeom prst="rect">
            <a:avLst/>
          </a:prstGeom>
          <a:solidFill>
            <a:srgbClr val="0D9488"/>
          </a:solidFill>
          <a:ln w="12700">
            <a:solidFill>
              <a:srgbClr val="333333"/>
            </a:solidFill>
            <a:prstDash val="solid"/>
          </a:ln>
        </p:spPr>
      </p:sp>
      <p:sp>
        <p:nvSpPr>
          <p:cNvPr id="13" name="Text 11"/>
          <p:cNvSpPr/>
          <p:nvPr/>
        </p:nvSpPr>
        <p:spPr>
          <a:xfrm>
            <a:off x="4663440" y="4206240"/>
            <a:ext cx="274320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Smart PBNA Allocation</a:t>
            </a:r>
            <a:endParaRPr lang="en-US" sz="1200" dirty="0"/>
          </a:p>
        </p:txBody>
      </p:sp>
      <p:sp>
        <p:nvSpPr>
          <p:cNvPr id="14" name="Text 12"/>
          <p:cNvSpPr/>
          <p:nvPr/>
        </p:nvSpPr>
        <p:spPr>
          <a:xfrm>
            <a:off x="4663440" y="4572000"/>
            <a:ext cx="2697480" cy="914400"/>
          </a:xfrm>
          <a:prstGeom prst="rect">
            <a:avLst/>
          </a:prstGeom>
          <a:noFill/>
          <a:ln/>
        </p:spPr>
        <p:txBody>
          <a:bodyPr wrap="square" rtlCol="0" anchor="ctr"/>
          <a:lstStyle/>
          <a:p>
            <a:pPr indent="0" marL="0">
              <a:lnSpc>
                <a:spcPts val="1500"/>
              </a:lnSpc>
              <a:buNone/>
            </a:pPr>
            <a:r>
              <a:rPr lang="en-US" sz="1000" dirty="0">
                <a:solidFill>
                  <a:srgbClr val="94A3B8"/>
                </a:solidFill>
                <a:latin typeface="Segoe UI" pitchFamily="34" charset="0"/>
                <a:ea typeface="Segoe UI" pitchFamily="34" charset="-122"/>
                <a:cs typeface="Segoe UI" pitchFamily="34" charset="-120"/>
              </a:rPr>
              <a:t>Zero dual-allocations, instant customer matching &amp; automated VIN tagging</a:t>
            </a:r>
            <a:endParaRPr lang="en-US" sz="1000" dirty="0"/>
          </a:p>
        </p:txBody>
      </p:sp>
      <p:sp>
        <p:nvSpPr>
          <p:cNvPr id="15" name="Shape 13"/>
          <p:cNvSpPr/>
          <p:nvPr/>
        </p:nvSpPr>
        <p:spPr>
          <a:xfrm>
            <a:off x="7772400" y="4023360"/>
            <a:ext cx="3108960" cy="1645920"/>
          </a:xfrm>
          <a:prstGeom prst="roundRect">
            <a:avLst>
              <a:gd name="adj" fmla="val 6667"/>
            </a:avLst>
          </a:prstGeom>
          <a:solidFill>
            <a:srgbClr val="1E293B"/>
          </a:solidFill>
          <a:ln w="12700">
            <a:solidFill>
              <a:srgbClr val="334155"/>
            </a:solidFill>
            <a:prstDash val="solid"/>
          </a:ln>
        </p:spPr>
      </p:sp>
      <p:sp>
        <p:nvSpPr>
          <p:cNvPr id="16" name="Shape 14"/>
          <p:cNvSpPr/>
          <p:nvPr/>
        </p:nvSpPr>
        <p:spPr>
          <a:xfrm>
            <a:off x="7772400" y="4023360"/>
            <a:ext cx="73152" cy="1645920"/>
          </a:xfrm>
          <a:prstGeom prst="rect">
            <a:avLst/>
          </a:prstGeom>
          <a:solidFill>
            <a:srgbClr val="16A34A"/>
          </a:solidFill>
          <a:ln w="12700">
            <a:solidFill>
              <a:srgbClr val="333333"/>
            </a:solidFill>
            <a:prstDash val="solid"/>
          </a:ln>
        </p:spPr>
      </p:sp>
      <p:sp>
        <p:nvSpPr>
          <p:cNvPr id="17" name="Text 15"/>
          <p:cNvSpPr/>
          <p:nvPr/>
        </p:nvSpPr>
        <p:spPr>
          <a:xfrm>
            <a:off x="8001000" y="4206240"/>
            <a:ext cx="2743200" cy="32004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Offline-First Engine</a:t>
            </a:r>
            <a:endParaRPr lang="en-US" sz="1200" dirty="0"/>
          </a:p>
        </p:txBody>
      </p:sp>
      <p:sp>
        <p:nvSpPr>
          <p:cNvPr id="18" name="Text 16"/>
          <p:cNvSpPr/>
          <p:nvPr/>
        </p:nvSpPr>
        <p:spPr>
          <a:xfrm>
            <a:off x="8001000" y="4572000"/>
            <a:ext cx="2697480" cy="914400"/>
          </a:xfrm>
          <a:prstGeom prst="rect">
            <a:avLst/>
          </a:prstGeom>
          <a:noFill/>
          <a:ln/>
        </p:spPr>
        <p:txBody>
          <a:bodyPr wrap="square" rtlCol="0" anchor="ctr"/>
          <a:lstStyle/>
          <a:p>
            <a:pPr indent="0" marL="0">
              <a:lnSpc>
                <a:spcPts val="1500"/>
              </a:lnSpc>
              <a:buNone/>
            </a:pPr>
            <a:r>
              <a:rPr lang="en-US" sz="1000" dirty="0">
                <a:solidFill>
                  <a:srgbClr val="94A3B8"/>
                </a:solidFill>
                <a:latin typeface="Segoe UI" pitchFamily="34" charset="0"/>
                <a:ea typeface="Segoe UI" pitchFamily="34" charset="-122"/>
                <a:cs typeface="Segoe UI" pitchFamily="34" charset="-120"/>
              </a:rPr>
              <a:t>LAN PostgREST DB + Cloud Supabase bidirectional real-time sync</a:t>
            </a:r>
            <a:endParaRPr lang="en-US" sz="1000" dirty="0"/>
          </a:p>
        </p:txBody>
      </p:sp>
      <p:sp>
        <p:nvSpPr>
          <p:cNvPr id="19" name="Text 17"/>
          <p:cNvSpPr/>
          <p:nvPr/>
        </p:nvSpPr>
        <p:spPr>
          <a:xfrm>
            <a:off x="1097280" y="6263640"/>
            <a:ext cx="9601200" cy="274320"/>
          </a:xfrm>
          <a:prstGeom prst="rect">
            <a:avLst/>
          </a:prstGeom>
          <a:noFill/>
          <a:ln/>
        </p:spPr>
        <p:txBody>
          <a:bodyPr wrap="square"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Deployment: Tata Motors &amp; Hyundai Passenger Vehicles  |  Dhoot Group Fleet Systems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ARCHITECTURE &amp; TECH STACK</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सिस्टम परिचय एवं तकनीकी आर्किटेक्चर (System Architecture)</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2</a:t>
            </a:r>
            <a:endParaRPr lang="en-US" sz="900" dirty="0"/>
          </a:p>
        </p:txBody>
      </p:sp>
      <p:sp>
        <p:nvSpPr>
          <p:cNvPr id="7" name="Shape 5"/>
          <p:cNvSpPr/>
          <p:nvPr/>
        </p:nvSpPr>
        <p:spPr>
          <a:xfrm>
            <a:off x="731520" y="1463040"/>
            <a:ext cx="5120640" cy="4663440"/>
          </a:xfrm>
          <a:prstGeom prst="roundRect">
            <a:avLst>
              <a:gd name="adj" fmla="val 2353"/>
            </a:avLst>
          </a:prstGeom>
          <a:solidFill>
            <a:srgbClr val="F8FAFC"/>
          </a:solidFill>
          <a:ln w="12700">
            <a:solidFill>
              <a:srgbClr val="E2E8F0"/>
            </a:solidFill>
            <a:prstDash val="solid"/>
          </a:ln>
        </p:spPr>
      </p:sp>
      <p:sp>
        <p:nvSpPr>
          <p:cNvPr id="8" name="Text 6"/>
          <p:cNvSpPr/>
          <p:nvPr/>
        </p:nvSpPr>
        <p:spPr>
          <a:xfrm>
            <a:off x="1005840" y="1691640"/>
            <a:ext cx="4572000" cy="320040"/>
          </a:xfrm>
          <a:prstGeom prst="rect">
            <a:avLst/>
          </a:prstGeom>
          <a:noFill/>
          <a:ln/>
        </p:spPr>
        <p:txBody>
          <a:bodyPr wrap="square"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यह सॉफ़्टवेयर क्या है? (Core Purpose)</a:t>
            </a:r>
            <a:endParaRPr lang="en-US" sz="1400" dirty="0"/>
          </a:p>
        </p:txBody>
      </p:sp>
      <p:sp>
        <p:nvSpPr>
          <p:cNvPr id="9" name="Text 7"/>
          <p:cNvSpPr/>
          <p:nvPr/>
        </p:nvSpPr>
        <p:spPr>
          <a:xfrm>
            <a:off x="1005840" y="2103120"/>
            <a:ext cx="4572000" cy="3840480"/>
          </a:xfrm>
          <a:prstGeom prst="rect">
            <a:avLst/>
          </a:prstGeom>
          <a:noFill/>
          <a:ln/>
        </p:spPr>
        <p:txBody>
          <a:bodyPr wrap="square" rtlCol="0" anchor="ctr"/>
          <a:lstStyle/>
          <a:p>
            <a:pPr indent="0" marL="0">
              <a:lnSpc>
                <a:spcPts val="1800"/>
              </a:lnSpc>
              <a:buNone/>
            </a:pPr>
            <a:r>
              <a:rPr lang="en-US" sz="1050" dirty="0">
                <a:solidFill>
                  <a:srgbClr val="475569"/>
                </a:solidFill>
                <a:latin typeface="Segoe UI" pitchFamily="34" charset="0"/>
                <a:ea typeface="Segoe UI" pitchFamily="34" charset="-122"/>
                <a:cs typeface="Segoe UI" pitchFamily="34" charset="-120"/>
              </a:rPr>
              <a:t>AutoPrime PDI Platform एक एंटरप्राइज-ग्रेड ऑटोमोटिव ऑपरेटिंग सिस्टम है जो डीलरशिप में नई गाड़ियाँ आने (Factory Inward) से लेकर ग्राहक को चाबी सौंपने (Customer Delivery Gatepass) तक के प्रत्येक चरण को डिजिटाइज़ और ऑटोमेट करता है।</a:t>
            </a:r>
            <a:endParaRPr lang="en-US" sz="1050" dirty="0"/>
          </a:p>
          <a:p>
            <a:pPr indent="0" marL="0">
              <a:lnSpc>
                <a:spcPts val="1800"/>
              </a:lnSpc>
              <a:buNone/>
            </a:pPr>
            <a:endParaRPr lang="en-US" sz="1050" dirty="0"/>
          </a:p>
          <a:p>
            <a:pPr indent="0" marL="0">
              <a:lnSpc>
                <a:spcPts val="1800"/>
              </a:lnSpc>
              <a:buNone/>
            </a:pPr>
            <a:r>
              <a:rPr lang="en-US" sz="1050" dirty="0">
                <a:solidFill>
                  <a:srgbClr val="475569"/>
                </a:solidFill>
                <a:latin typeface="Segoe UI" pitchFamily="34" charset="0"/>
                <a:ea typeface="Segoe UI" pitchFamily="34" charset="-122"/>
                <a:cs typeface="Segoe UI" pitchFamily="34" charset="-120"/>
              </a:rPr>
              <a:t>• डुअल-ब्रांड सपोर्ट: Tata Motors और Hyundai दोनों का अलग-अलग डेटा आइसोलेशन</a:t>
            </a:r>
            <a:endParaRPr lang="en-US" sz="1050" dirty="0"/>
          </a:p>
          <a:p>
            <a:pPr indent="0" marL="0">
              <a:lnSpc>
                <a:spcPts val="1800"/>
              </a:lnSpc>
              <a:buNone/>
            </a:pPr>
            <a:r>
              <a:rPr lang="en-US" sz="1050" dirty="0">
                <a:solidFill>
                  <a:srgbClr val="475569"/>
                </a:solidFill>
                <a:latin typeface="Segoe UI" pitchFamily="34" charset="0"/>
                <a:ea typeface="Segoe UI" pitchFamily="34" charset="-122"/>
                <a:cs typeface="Segoe UI" pitchFamily="34" charset="-120"/>
              </a:rPr>
              <a:t>• 100% पेपरलेस: डिजिटल इंस्पेक्शन, फोटो डिफ़ेक्ट एविडेंस, ई-चालान और QR सर्टिफ़िकेट</a:t>
            </a:r>
            <a:endParaRPr lang="en-US" sz="1050" dirty="0"/>
          </a:p>
          <a:p>
            <a:pPr indent="0" marL="0">
              <a:lnSpc>
                <a:spcPts val="1800"/>
              </a:lnSpc>
              <a:buNone/>
            </a:pPr>
            <a:r>
              <a:rPr lang="en-US" sz="1050" dirty="0">
                <a:solidFill>
                  <a:srgbClr val="475569"/>
                </a:solidFill>
                <a:latin typeface="Segoe UI" pitchFamily="34" charset="0"/>
                <a:ea typeface="Segoe UI" pitchFamily="34" charset="-122"/>
                <a:cs typeface="Segoe UI" pitchFamily="34" charset="-120"/>
              </a:rPr>
              <a:t>• नो डुप्लीकेशन: एक गाड़ी 2 ग्राहकों को कभी भी अलॉट नहीं हो सकती</a:t>
            </a:r>
            <a:endParaRPr lang="en-US" sz="1050" dirty="0"/>
          </a:p>
          <a:p>
            <a:pPr indent="0" marL="0">
              <a:lnSpc>
                <a:spcPts val="1800"/>
              </a:lnSpc>
              <a:buNone/>
            </a:pPr>
            <a:r>
              <a:rPr lang="en-US" sz="1050" dirty="0">
                <a:solidFill>
                  <a:srgbClr val="475569"/>
                </a:solidFill>
                <a:latin typeface="Segoe UI" pitchFamily="34" charset="0"/>
                <a:ea typeface="Segoe UI" pitchFamily="34" charset="-122"/>
                <a:cs typeface="Segoe UI" pitchFamily="34" charset="-120"/>
              </a:rPr>
              <a:t>• पूर्ण कानूनी सुरक्षा: हर गाड़ी का संपूर्ण ऑडिट ट्रेल और डिजिटल टाइमस्टैम्प</a:t>
            </a:r>
            <a:endParaRPr lang="en-US" sz="1050" dirty="0"/>
          </a:p>
        </p:txBody>
      </p:sp>
      <p:sp>
        <p:nvSpPr>
          <p:cNvPr id="10" name="Shape 8"/>
          <p:cNvSpPr/>
          <p:nvPr/>
        </p:nvSpPr>
        <p:spPr>
          <a:xfrm>
            <a:off x="6217920" y="1463040"/>
            <a:ext cx="5239512" cy="1417320"/>
          </a:xfrm>
          <a:prstGeom prst="roundRect">
            <a:avLst>
              <a:gd name="adj" fmla="val 6452"/>
            </a:avLst>
          </a:prstGeom>
          <a:solidFill>
            <a:srgbClr val="EFF6FF"/>
          </a:solidFill>
          <a:ln w="12700">
            <a:solidFill>
              <a:srgbClr val="2563EB"/>
            </a:solidFill>
            <a:prstDash val="solid"/>
          </a:ln>
        </p:spPr>
      </p:sp>
      <p:sp>
        <p:nvSpPr>
          <p:cNvPr id="11" name="Text 9"/>
          <p:cNvSpPr/>
          <p:nvPr/>
        </p:nvSpPr>
        <p:spPr>
          <a:xfrm>
            <a:off x="6446520" y="1627632"/>
            <a:ext cx="4754880" cy="274320"/>
          </a:xfrm>
          <a:prstGeom prst="rect">
            <a:avLst/>
          </a:prstGeom>
          <a:noFill/>
          <a:ln/>
        </p:spPr>
        <p:txBody>
          <a:bodyPr wrap="square" rtlCol="0" anchor="ctr"/>
          <a:lstStyle/>
          <a:p>
            <a:pPr indent="0" marL="0">
              <a:buNone/>
            </a:pPr>
            <a:r>
              <a:rPr lang="en-US" sz="1150" b="1" dirty="0">
                <a:solidFill>
                  <a:srgbClr val="2563EB"/>
                </a:solidFill>
                <a:latin typeface="Segoe UI" pitchFamily="34" charset="0"/>
                <a:ea typeface="Segoe UI" pitchFamily="34" charset="-122"/>
                <a:cs typeface="Segoe UI" pitchFamily="34" charset="-120"/>
              </a:rPr>
              <a:t>Tier 1: Frontend Cockpit (React + Tailwind)</a:t>
            </a:r>
            <a:endParaRPr lang="en-US" sz="1150" dirty="0"/>
          </a:p>
        </p:txBody>
      </p:sp>
      <p:sp>
        <p:nvSpPr>
          <p:cNvPr id="12" name="Text 10"/>
          <p:cNvSpPr/>
          <p:nvPr/>
        </p:nvSpPr>
        <p:spPr>
          <a:xfrm>
            <a:off x="6446520" y="1938528"/>
            <a:ext cx="4754880" cy="822960"/>
          </a:xfrm>
          <a:prstGeom prst="rect">
            <a:avLst/>
          </a:prstGeom>
          <a:noFill/>
          <a:ln/>
        </p:spPr>
        <p:txBody>
          <a:bodyPr wrap="square" rtlCol="0" anchor="ctr"/>
          <a:lstStyle/>
          <a:p>
            <a:pPr indent="0" marL="0">
              <a:lnSpc>
                <a:spcPts val="1500"/>
              </a:lnSpc>
              <a:buNone/>
            </a:pPr>
            <a:r>
              <a:rPr lang="en-US" sz="980" dirty="0">
                <a:solidFill>
                  <a:srgbClr val="475569"/>
                </a:solidFill>
                <a:latin typeface="Segoe UI" pitchFamily="34" charset="0"/>
                <a:ea typeface="Segoe UI" pitchFamily="34" charset="-122"/>
                <a:cs typeface="Segoe UI" pitchFamily="34" charset="-120"/>
              </a:rPr>
              <a:t>हाई-स्पीड SPA (Single Page App) टोकन-बेस्ड डिज़ाइन सिस्टम, मोनोस्पेस टैब्युलर नंबर्स, और इंस्टेंट रिस्पॉन्स टाइम (&lt;100ms)।</a:t>
            </a:r>
            <a:endParaRPr lang="en-US" sz="980" dirty="0"/>
          </a:p>
        </p:txBody>
      </p:sp>
      <p:sp>
        <p:nvSpPr>
          <p:cNvPr id="13" name="Shape 11"/>
          <p:cNvSpPr/>
          <p:nvPr/>
        </p:nvSpPr>
        <p:spPr>
          <a:xfrm>
            <a:off x="6217920" y="3063240"/>
            <a:ext cx="5239512" cy="1417320"/>
          </a:xfrm>
          <a:prstGeom prst="roundRect">
            <a:avLst>
              <a:gd name="adj" fmla="val 6452"/>
            </a:avLst>
          </a:prstGeom>
          <a:solidFill>
            <a:srgbClr val="F0FDF4"/>
          </a:solidFill>
          <a:ln w="12700">
            <a:solidFill>
              <a:srgbClr val="16A34A"/>
            </a:solidFill>
            <a:prstDash val="solid"/>
          </a:ln>
        </p:spPr>
      </p:sp>
      <p:sp>
        <p:nvSpPr>
          <p:cNvPr id="14" name="Text 12"/>
          <p:cNvSpPr/>
          <p:nvPr/>
        </p:nvSpPr>
        <p:spPr>
          <a:xfrm>
            <a:off x="6446520" y="3227832"/>
            <a:ext cx="4754880" cy="274320"/>
          </a:xfrm>
          <a:prstGeom prst="rect">
            <a:avLst/>
          </a:prstGeom>
          <a:noFill/>
          <a:ln/>
        </p:spPr>
        <p:txBody>
          <a:bodyPr wrap="square" rtlCol="0" anchor="ctr"/>
          <a:lstStyle/>
          <a:p>
            <a:pPr indent="0" marL="0">
              <a:buNone/>
            </a:pPr>
            <a:r>
              <a:rPr lang="en-US" sz="1150" b="1" dirty="0">
                <a:solidFill>
                  <a:srgbClr val="16A34A"/>
                </a:solidFill>
                <a:latin typeface="Segoe UI" pitchFamily="34" charset="0"/>
                <a:ea typeface="Segoe UI" pitchFamily="34" charset="-122"/>
                <a:cs typeface="Segoe UI" pitchFamily="34" charset="-120"/>
              </a:rPr>
              <a:t>Tier 2: Dual Database Sync (Local + Cloud)</a:t>
            </a:r>
            <a:endParaRPr lang="en-US" sz="1150" dirty="0"/>
          </a:p>
        </p:txBody>
      </p:sp>
      <p:sp>
        <p:nvSpPr>
          <p:cNvPr id="15" name="Text 13"/>
          <p:cNvSpPr/>
          <p:nvPr/>
        </p:nvSpPr>
        <p:spPr>
          <a:xfrm>
            <a:off x="6446520" y="3538728"/>
            <a:ext cx="4754880" cy="822960"/>
          </a:xfrm>
          <a:prstGeom prst="rect">
            <a:avLst/>
          </a:prstGeom>
          <a:noFill/>
          <a:ln/>
        </p:spPr>
        <p:txBody>
          <a:bodyPr wrap="square" rtlCol="0" anchor="ctr"/>
          <a:lstStyle/>
          <a:p>
            <a:pPr indent="0" marL="0">
              <a:lnSpc>
                <a:spcPts val="1500"/>
              </a:lnSpc>
              <a:buNone/>
            </a:pPr>
            <a:r>
              <a:rPr lang="en-US" sz="980" dirty="0">
                <a:solidFill>
                  <a:srgbClr val="475569"/>
                </a:solidFill>
                <a:latin typeface="Segoe UI" pitchFamily="34" charset="0"/>
                <a:ea typeface="Segoe UI" pitchFamily="34" charset="-122"/>
                <a:cs typeface="Segoe UI" pitchFamily="34" charset="-120"/>
              </a:rPr>
              <a:t>लोकल LAN पर PostgREST DB (Port 54321) + क्लाउड Supabase। इंटरनेट कटने पर भी यार्ड और वर्कशॉप में काम कभी नहीं रुकता।</a:t>
            </a:r>
            <a:endParaRPr lang="en-US" sz="980" dirty="0"/>
          </a:p>
        </p:txBody>
      </p:sp>
      <p:sp>
        <p:nvSpPr>
          <p:cNvPr id="16" name="Shape 14"/>
          <p:cNvSpPr/>
          <p:nvPr/>
        </p:nvSpPr>
        <p:spPr>
          <a:xfrm>
            <a:off x="6217920" y="4663440"/>
            <a:ext cx="5239512" cy="1417320"/>
          </a:xfrm>
          <a:prstGeom prst="roundRect">
            <a:avLst>
              <a:gd name="adj" fmla="val 6452"/>
            </a:avLst>
          </a:prstGeom>
          <a:solidFill>
            <a:srgbClr val="F0FDFA"/>
          </a:solidFill>
          <a:ln w="12700">
            <a:solidFill>
              <a:srgbClr val="0D9488"/>
            </a:solidFill>
            <a:prstDash val="solid"/>
          </a:ln>
        </p:spPr>
      </p:sp>
      <p:sp>
        <p:nvSpPr>
          <p:cNvPr id="17" name="Text 15"/>
          <p:cNvSpPr/>
          <p:nvPr/>
        </p:nvSpPr>
        <p:spPr>
          <a:xfrm>
            <a:off x="6446520" y="4828032"/>
            <a:ext cx="4754880" cy="274320"/>
          </a:xfrm>
          <a:prstGeom prst="rect">
            <a:avLst/>
          </a:prstGeom>
          <a:noFill/>
          <a:ln/>
        </p:spPr>
        <p:txBody>
          <a:bodyPr wrap="square" rtlCol="0" anchor="ctr"/>
          <a:lstStyle/>
          <a:p>
            <a:pPr indent="0" marL="0">
              <a:buNone/>
            </a:pPr>
            <a:r>
              <a:rPr lang="en-US" sz="1150" b="1" dirty="0">
                <a:solidFill>
                  <a:srgbClr val="0D9488"/>
                </a:solidFill>
                <a:latin typeface="Segoe UI" pitchFamily="34" charset="0"/>
                <a:ea typeface="Segoe UI" pitchFamily="34" charset="-122"/>
                <a:cs typeface="Segoe UI" pitchFamily="34" charset="-120"/>
              </a:rPr>
              <a:t>Tier 3: Cloudflare Edge API Worker</a:t>
            </a:r>
            <a:endParaRPr lang="en-US" sz="1150" dirty="0"/>
          </a:p>
        </p:txBody>
      </p:sp>
      <p:sp>
        <p:nvSpPr>
          <p:cNvPr id="18" name="Text 16"/>
          <p:cNvSpPr/>
          <p:nvPr/>
        </p:nvSpPr>
        <p:spPr>
          <a:xfrm>
            <a:off x="6446520" y="5138928"/>
            <a:ext cx="4754880" cy="822960"/>
          </a:xfrm>
          <a:prstGeom prst="rect">
            <a:avLst/>
          </a:prstGeom>
          <a:noFill/>
          <a:ln/>
        </p:spPr>
        <p:txBody>
          <a:bodyPr wrap="square" rtlCol="0" anchor="ctr"/>
          <a:lstStyle/>
          <a:p>
            <a:pPr indent="0" marL="0">
              <a:lnSpc>
                <a:spcPts val="1500"/>
              </a:lnSpc>
              <a:buNone/>
            </a:pPr>
            <a:r>
              <a:rPr lang="en-US" sz="980" dirty="0">
                <a:solidFill>
                  <a:srgbClr val="475569"/>
                </a:solidFill>
                <a:latin typeface="Segoe UI" pitchFamily="34" charset="0"/>
                <a:ea typeface="Segoe UI" pitchFamily="34" charset="-122"/>
                <a:cs typeface="Segoe UI" pitchFamily="34" charset="-120"/>
              </a:rPr>
              <a:t>ग्लोबल CDN एज वर्कर जो लाइव स्टॉक सिंक, रोल-बेस्ड ऑथेंटिकेशन और ऑटोमैटिक डेटा बैकअप को सुरक्षित हैंडल करता है।</a:t>
            </a:r>
            <a:endParaRPr lang="en-US" sz="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STANDARD OPERATING PROCEDURE (SOP)</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गाड़ी आने से डिलीवरी तक का पूरा सफ़र (End-to-End Workflow)</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3</a:t>
            </a:r>
            <a:endParaRPr lang="en-US" sz="900" dirty="0"/>
          </a:p>
        </p:txBody>
      </p:sp>
      <p:sp>
        <p:nvSpPr>
          <p:cNvPr id="7" name="Shape 5"/>
          <p:cNvSpPr/>
          <p:nvPr/>
        </p:nvSpPr>
        <p:spPr>
          <a:xfrm>
            <a:off x="731520" y="1645920"/>
            <a:ext cx="1417320" cy="4389120"/>
          </a:xfrm>
          <a:prstGeom prst="roundRect">
            <a:avLst>
              <a:gd name="adj" fmla="val 6452"/>
            </a:avLst>
          </a:prstGeom>
          <a:solidFill>
            <a:srgbClr val="F8FAFC"/>
          </a:solidFill>
          <a:ln w="12700">
            <a:solidFill>
              <a:srgbClr val="E2E8F0"/>
            </a:solidFill>
            <a:prstDash val="solid"/>
          </a:ln>
        </p:spPr>
      </p:sp>
      <p:sp>
        <p:nvSpPr>
          <p:cNvPr id="8" name="Shape 6"/>
          <p:cNvSpPr/>
          <p:nvPr/>
        </p:nvSpPr>
        <p:spPr>
          <a:xfrm>
            <a:off x="1051560" y="1874520"/>
            <a:ext cx="777240" cy="411480"/>
          </a:xfrm>
          <a:prstGeom prst="roundRect">
            <a:avLst>
              <a:gd name="adj" fmla="val 17778"/>
            </a:avLst>
          </a:prstGeom>
          <a:solidFill>
            <a:srgbClr val="2563EB"/>
          </a:solidFill>
          <a:ln w="12700">
            <a:solidFill>
              <a:srgbClr val="333333"/>
            </a:solidFill>
            <a:prstDash val="solid"/>
          </a:ln>
        </p:spPr>
      </p:sp>
      <p:sp>
        <p:nvSpPr>
          <p:cNvPr id="9" name="Text 7"/>
          <p:cNvSpPr/>
          <p:nvPr/>
        </p:nvSpPr>
        <p:spPr>
          <a:xfrm>
            <a:off x="1051560" y="1874520"/>
            <a:ext cx="77724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01</a:t>
            </a:r>
            <a:endParaRPr lang="en-US" sz="1200" dirty="0"/>
          </a:p>
        </p:txBody>
      </p:sp>
      <p:sp>
        <p:nvSpPr>
          <p:cNvPr id="10" name="Text 8"/>
          <p:cNvSpPr/>
          <p:nvPr/>
        </p:nvSpPr>
        <p:spPr>
          <a:xfrm>
            <a:off x="804672" y="2423160"/>
            <a:ext cx="1280160" cy="411480"/>
          </a:xfrm>
          <a:prstGeom prst="rect">
            <a:avLst/>
          </a:prstGeom>
          <a:noFill/>
          <a:ln/>
        </p:spPr>
        <p:txBody>
          <a:bodyPr wrap="square"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Carrier Unload</a:t>
            </a:r>
            <a:endParaRPr lang="en-US" sz="1050" dirty="0"/>
          </a:p>
        </p:txBody>
      </p:sp>
      <p:sp>
        <p:nvSpPr>
          <p:cNvPr id="11" name="Text 9"/>
          <p:cNvSpPr/>
          <p:nvPr/>
        </p:nvSpPr>
        <p:spPr>
          <a:xfrm>
            <a:off x="804672" y="2788920"/>
            <a:ext cx="1280160" cy="274320"/>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ट्रांजिट रिसीविंग</a:t>
            </a:r>
            <a:endParaRPr lang="en-US" sz="900" dirty="0"/>
          </a:p>
        </p:txBody>
      </p:sp>
      <p:sp>
        <p:nvSpPr>
          <p:cNvPr id="12" name="Shape 10"/>
          <p:cNvSpPr/>
          <p:nvPr/>
        </p:nvSpPr>
        <p:spPr>
          <a:xfrm>
            <a:off x="960120" y="3154680"/>
            <a:ext cx="960120" cy="18288"/>
          </a:xfrm>
          <a:prstGeom prst="rect">
            <a:avLst/>
          </a:prstGeom>
          <a:solidFill>
            <a:srgbClr val="E2E8F0"/>
          </a:solidFill>
          <a:ln w="12700">
            <a:solidFill>
              <a:srgbClr val="333333"/>
            </a:solidFill>
            <a:prstDash val="solid"/>
          </a:ln>
        </p:spPr>
      </p:sp>
      <p:sp>
        <p:nvSpPr>
          <p:cNvPr id="13" name="Text 11"/>
          <p:cNvSpPr/>
          <p:nvPr/>
        </p:nvSpPr>
        <p:spPr>
          <a:xfrm>
            <a:off x="822960" y="3337560"/>
            <a:ext cx="1234440" cy="2468880"/>
          </a:xfrm>
          <a:prstGeom prst="rect">
            <a:avLst/>
          </a:prstGeom>
          <a:noFill/>
          <a:ln/>
        </p:spPr>
        <p:txBody>
          <a:bodyPr wrap="square" rtlCol="0" anchor="ctr"/>
          <a:lstStyle/>
          <a:p>
            <a:pPr algn="ctr" indent="0" marL="0">
              <a:lnSpc>
                <a:spcPts val="1400"/>
              </a:lnSpc>
              <a:buNone/>
            </a:pPr>
            <a:r>
              <a:rPr lang="en-US" sz="880" dirty="0">
                <a:solidFill>
                  <a:srgbClr val="475569"/>
                </a:solidFill>
                <a:latin typeface="Segoe UI" pitchFamily="34" charset="0"/>
                <a:ea typeface="Segoe UI" pitchFamily="34" charset="-122"/>
                <a:cs typeface="Segoe UI" pitchFamily="34" charset="-120"/>
              </a:rPr>
              <a:t>कैरियर अनलोडिंग, LR नंबर, ट्रांजिट डैमेज जांच</a:t>
            </a:r>
            <a:endParaRPr lang="en-US" sz="880" dirty="0"/>
          </a:p>
        </p:txBody>
      </p:sp>
      <p:sp>
        <p:nvSpPr>
          <p:cNvPr id="14" name="Shape 12"/>
          <p:cNvSpPr/>
          <p:nvPr/>
        </p:nvSpPr>
        <p:spPr>
          <a:xfrm>
            <a:off x="2286000" y="1645920"/>
            <a:ext cx="1417320" cy="4389120"/>
          </a:xfrm>
          <a:prstGeom prst="roundRect">
            <a:avLst>
              <a:gd name="adj" fmla="val 6452"/>
            </a:avLst>
          </a:prstGeom>
          <a:solidFill>
            <a:srgbClr val="F8FAFC"/>
          </a:solidFill>
          <a:ln w="12700">
            <a:solidFill>
              <a:srgbClr val="E2E8F0"/>
            </a:solidFill>
            <a:prstDash val="solid"/>
          </a:ln>
        </p:spPr>
      </p:sp>
      <p:sp>
        <p:nvSpPr>
          <p:cNvPr id="15" name="Shape 13"/>
          <p:cNvSpPr/>
          <p:nvPr/>
        </p:nvSpPr>
        <p:spPr>
          <a:xfrm>
            <a:off x="2606040" y="1874520"/>
            <a:ext cx="777240" cy="411480"/>
          </a:xfrm>
          <a:prstGeom prst="roundRect">
            <a:avLst>
              <a:gd name="adj" fmla="val 17778"/>
            </a:avLst>
          </a:prstGeom>
          <a:solidFill>
            <a:srgbClr val="0D9488"/>
          </a:solidFill>
          <a:ln w="12700">
            <a:solidFill>
              <a:srgbClr val="333333"/>
            </a:solidFill>
            <a:prstDash val="solid"/>
          </a:ln>
        </p:spPr>
      </p:sp>
      <p:sp>
        <p:nvSpPr>
          <p:cNvPr id="16" name="Text 14"/>
          <p:cNvSpPr/>
          <p:nvPr/>
        </p:nvSpPr>
        <p:spPr>
          <a:xfrm>
            <a:off x="2606040" y="1874520"/>
            <a:ext cx="77724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02</a:t>
            </a:r>
            <a:endParaRPr lang="en-US" sz="1200" dirty="0"/>
          </a:p>
        </p:txBody>
      </p:sp>
      <p:sp>
        <p:nvSpPr>
          <p:cNvPr id="17" name="Text 15"/>
          <p:cNvSpPr/>
          <p:nvPr/>
        </p:nvSpPr>
        <p:spPr>
          <a:xfrm>
            <a:off x="2359152" y="2423160"/>
            <a:ext cx="1280160" cy="411480"/>
          </a:xfrm>
          <a:prstGeom prst="rect">
            <a:avLst/>
          </a:prstGeom>
          <a:noFill/>
          <a:ln/>
        </p:spPr>
        <p:txBody>
          <a:bodyPr wrap="square"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Yard Inward</a:t>
            </a:r>
            <a:endParaRPr lang="en-US" sz="1050" dirty="0"/>
          </a:p>
        </p:txBody>
      </p:sp>
      <p:sp>
        <p:nvSpPr>
          <p:cNvPr id="18" name="Text 16"/>
          <p:cNvSpPr/>
          <p:nvPr/>
        </p:nvSpPr>
        <p:spPr>
          <a:xfrm>
            <a:off x="2359152" y="2788920"/>
            <a:ext cx="1280160" cy="274320"/>
          </a:xfrm>
          <a:prstGeom prst="rect">
            <a:avLst/>
          </a:prstGeom>
          <a:noFill/>
          <a:ln/>
        </p:spPr>
        <p:txBody>
          <a:bodyPr wrap="square" rtlCol="0" anchor="ctr"/>
          <a:lstStyle/>
          <a:p>
            <a:pPr algn="ctr" indent="0" marL="0">
              <a:buNone/>
            </a:pPr>
            <a:r>
              <a:rPr lang="en-US" sz="900" b="1" dirty="0">
                <a:solidFill>
                  <a:srgbClr val="0D9488"/>
                </a:solidFill>
                <a:latin typeface="Segoe UI" pitchFamily="34" charset="0"/>
                <a:ea typeface="Segoe UI" pitchFamily="34" charset="-122"/>
                <a:cs typeface="Segoe UI" pitchFamily="34" charset="-120"/>
              </a:rPr>
              <a:t>स्टॉक इन्वेंट्री</a:t>
            </a:r>
            <a:endParaRPr lang="en-US" sz="900" dirty="0"/>
          </a:p>
        </p:txBody>
      </p:sp>
      <p:sp>
        <p:nvSpPr>
          <p:cNvPr id="19" name="Shape 17"/>
          <p:cNvSpPr/>
          <p:nvPr/>
        </p:nvSpPr>
        <p:spPr>
          <a:xfrm>
            <a:off x="2514600" y="3154680"/>
            <a:ext cx="960120" cy="18288"/>
          </a:xfrm>
          <a:prstGeom prst="rect">
            <a:avLst/>
          </a:prstGeom>
          <a:solidFill>
            <a:srgbClr val="E2E8F0"/>
          </a:solidFill>
          <a:ln w="12700">
            <a:solidFill>
              <a:srgbClr val="333333"/>
            </a:solidFill>
            <a:prstDash val="solid"/>
          </a:ln>
        </p:spPr>
      </p:sp>
      <p:sp>
        <p:nvSpPr>
          <p:cNvPr id="20" name="Text 18"/>
          <p:cNvSpPr/>
          <p:nvPr/>
        </p:nvSpPr>
        <p:spPr>
          <a:xfrm>
            <a:off x="2377440" y="3337560"/>
            <a:ext cx="1234440" cy="2468880"/>
          </a:xfrm>
          <a:prstGeom prst="rect">
            <a:avLst/>
          </a:prstGeom>
          <a:noFill/>
          <a:ln/>
        </p:spPr>
        <p:txBody>
          <a:bodyPr wrap="square" rtlCol="0" anchor="ctr"/>
          <a:lstStyle/>
          <a:p>
            <a:pPr algn="ctr" indent="0" marL="0">
              <a:lnSpc>
                <a:spcPts val="1400"/>
              </a:lnSpc>
              <a:buNone/>
            </a:pPr>
            <a:r>
              <a:rPr lang="en-US" sz="880" dirty="0">
                <a:solidFill>
                  <a:srgbClr val="475569"/>
                </a:solidFill>
                <a:latin typeface="Segoe UI" pitchFamily="34" charset="0"/>
                <a:ea typeface="Segoe UI" pitchFamily="34" charset="-122"/>
                <a:cs typeface="Segoe UI" pitchFamily="34" charset="-120"/>
              </a:rPr>
              <a:t>VIN स्कैनिंग, लोकेशन असाइनमेंट, न्यू कार स्टेटस</a:t>
            </a:r>
            <a:endParaRPr lang="en-US" sz="880" dirty="0"/>
          </a:p>
        </p:txBody>
      </p:sp>
      <p:sp>
        <p:nvSpPr>
          <p:cNvPr id="21" name="Shape 19"/>
          <p:cNvSpPr/>
          <p:nvPr/>
        </p:nvSpPr>
        <p:spPr>
          <a:xfrm>
            <a:off x="3840480" y="1645920"/>
            <a:ext cx="1417320" cy="4389120"/>
          </a:xfrm>
          <a:prstGeom prst="roundRect">
            <a:avLst>
              <a:gd name="adj" fmla="val 6452"/>
            </a:avLst>
          </a:prstGeom>
          <a:solidFill>
            <a:srgbClr val="F8FAFC"/>
          </a:solidFill>
          <a:ln w="12700">
            <a:solidFill>
              <a:srgbClr val="E2E8F0"/>
            </a:solidFill>
            <a:prstDash val="solid"/>
          </a:ln>
        </p:spPr>
      </p:sp>
      <p:sp>
        <p:nvSpPr>
          <p:cNvPr id="22" name="Shape 20"/>
          <p:cNvSpPr/>
          <p:nvPr/>
        </p:nvSpPr>
        <p:spPr>
          <a:xfrm>
            <a:off x="4160520" y="1874520"/>
            <a:ext cx="777240" cy="411480"/>
          </a:xfrm>
          <a:prstGeom prst="roundRect">
            <a:avLst>
              <a:gd name="adj" fmla="val 17778"/>
            </a:avLst>
          </a:prstGeom>
          <a:solidFill>
            <a:srgbClr val="D97706"/>
          </a:solidFill>
          <a:ln w="12700">
            <a:solidFill>
              <a:srgbClr val="333333"/>
            </a:solidFill>
            <a:prstDash val="solid"/>
          </a:ln>
        </p:spPr>
      </p:sp>
      <p:sp>
        <p:nvSpPr>
          <p:cNvPr id="23" name="Text 21"/>
          <p:cNvSpPr/>
          <p:nvPr/>
        </p:nvSpPr>
        <p:spPr>
          <a:xfrm>
            <a:off x="4160520" y="1874520"/>
            <a:ext cx="77724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03</a:t>
            </a:r>
            <a:endParaRPr lang="en-US" sz="1200" dirty="0"/>
          </a:p>
        </p:txBody>
      </p:sp>
      <p:sp>
        <p:nvSpPr>
          <p:cNvPr id="24" name="Text 22"/>
          <p:cNvSpPr/>
          <p:nvPr/>
        </p:nvSpPr>
        <p:spPr>
          <a:xfrm>
            <a:off x="3913632" y="2423160"/>
            <a:ext cx="1280160" cy="411480"/>
          </a:xfrm>
          <a:prstGeom prst="rect">
            <a:avLst/>
          </a:prstGeom>
          <a:noFill/>
          <a:ln/>
        </p:spPr>
        <p:txBody>
          <a:bodyPr wrap="square"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PDI Inspection</a:t>
            </a:r>
            <a:endParaRPr lang="en-US" sz="1050" dirty="0"/>
          </a:p>
        </p:txBody>
      </p:sp>
      <p:sp>
        <p:nvSpPr>
          <p:cNvPr id="25" name="Text 23"/>
          <p:cNvSpPr/>
          <p:nvPr/>
        </p:nvSpPr>
        <p:spPr>
          <a:xfrm>
            <a:off x="3913632" y="2788920"/>
            <a:ext cx="1280160" cy="274320"/>
          </a:xfrm>
          <a:prstGeom prst="rect">
            <a:avLst/>
          </a:prstGeom>
          <a:noFill/>
          <a:ln/>
        </p:spPr>
        <p:txBody>
          <a:bodyPr wrap="square" rtlCol="0" anchor="ctr"/>
          <a:lstStyle/>
          <a:p>
            <a:pPr algn="ctr" indent="0" marL="0">
              <a:buNone/>
            </a:pPr>
            <a:r>
              <a:rPr lang="en-US" sz="900" b="1" dirty="0">
                <a:solidFill>
                  <a:srgbClr val="D97706"/>
                </a:solidFill>
                <a:latin typeface="Segoe UI" pitchFamily="34" charset="0"/>
                <a:ea typeface="Segoe UI" pitchFamily="34" charset="-122"/>
                <a:cs typeface="Segoe UI" pitchFamily="34" charset="-120"/>
              </a:rPr>
              <a:t>टेक्निकल चेक</a:t>
            </a:r>
            <a:endParaRPr lang="en-US" sz="900" dirty="0"/>
          </a:p>
        </p:txBody>
      </p:sp>
      <p:sp>
        <p:nvSpPr>
          <p:cNvPr id="26" name="Shape 24"/>
          <p:cNvSpPr/>
          <p:nvPr/>
        </p:nvSpPr>
        <p:spPr>
          <a:xfrm>
            <a:off x="4069080" y="3154680"/>
            <a:ext cx="960120" cy="18288"/>
          </a:xfrm>
          <a:prstGeom prst="rect">
            <a:avLst/>
          </a:prstGeom>
          <a:solidFill>
            <a:srgbClr val="E2E8F0"/>
          </a:solidFill>
          <a:ln w="12700">
            <a:solidFill>
              <a:srgbClr val="333333"/>
            </a:solidFill>
            <a:prstDash val="solid"/>
          </a:ln>
        </p:spPr>
      </p:sp>
      <p:sp>
        <p:nvSpPr>
          <p:cNvPr id="27" name="Text 25"/>
          <p:cNvSpPr/>
          <p:nvPr/>
        </p:nvSpPr>
        <p:spPr>
          <a:xfrm>
            <a:off x="3931920" y="3337560"/>
            <a:ext cx="1234440" cy="2468880"/>
          </a:xfrm>
          <a:prstGeom prst="rect">
            <a:avLst/>
          </a:prstGeom>
          <a:noFill/>
          <a:ln/>
        </p:spPr>
        <p:txBody>
          <a:bodyPr wrap="square" rtlCol="0" anchor="ctr"/>
          <a:lstStyle/>
          <a:p>
            <a:pPr algn="ctr" indent="0" marL="0">
              <a:lnSpc>
                <a:spcPts val="1400"/>
              </a:lnSpc>
              <a:buNone/>
            </a:pPr>
            <a:r>
              <a:rPr lang="en-US" sz="880" dirty="0">
                <a:solidFill>
                  <a:srgbClr val="475569"/>
                </a:solidFill>
                <a:latin typeface="Segoe UI" pitchFamily="34" charset="0"/>
                <a:ea typeface="Segoe UI" pitchFamily="34" charset="-122"/>
                <a:cs typeface="Segoe UI" pitchFamily="34" charset="-120"/>
              </a:rPr>
              <a:t>7 केटेगरी चेकपॉइंट्स, OBD स्कैन, फोटो डिफेक्ट्स</a:t>
            </a:r>
            <a:endParaRPr lang="en-US" sz="880" dirty="0"/>
          </a:p>
        </p:txBody>
      </p:sp>
      <p:sp>
        <p:nvSpPr>
          <p:cNvPr id="28" name="Shape 26"/>
          <p:cNvSpPr/>
          <p:nvPr/>
        </p:nvSpPr>
        <p:spPr>
          <a:xfrm>
            <a:off x="5394960" y="1645920"/>
            <a:ext cx="1417320" cy="4389120"/>
          </a:xfrm>
          <a:prstGeom prst="roundRect">
            <a:avLst>
              <a:gd name="adj" fmla="val 6452"/>
            </a:avLst>
          </a:prstGeom>
          <a:solidFill>
            <a:srgbClr val="F8FAFC"/>
          </a:solidFill>
          <a:ln w="12700">
            <a:solidFill>
              <a:srgbClr val="E2E8F0"/>
            </a:solidFill>
            <a:prstDash val="solid"/>
          </a:ln>
        </p:spPr>
      </p:sp>
      <p:sp>
        <p:nvSpPr>
          <p:cNvPr id="29" name="Shape 27"/>
          <p:cNvSpPr/>
          <p:nvPr/>
        </p:nvSpPr>
        <p:spPr>
          <a:xfrm>
            <a:off x="5715000" y="1874520"/>
            <a:ext cx="777240" cy="411480"/>
          </a:xfrm>
          <a:prstGeom prst="roundRect">
            <a:avLst>
              <a:gd name="adj" fmla="val 17778"/>
            </a:avLst>
          </a:prstGeom>
          <a:solidFill>
            <a:srgbClr val="DC2626"/>
          </a:solidFill>
          <a:ln w="12700">
            <a:solidFill>
              <a:srgbClr val="333333"/>
            </a:solidFill>
            <a:prstDash val="solid"/>
          </a:ln>
        </p:spPr>
      </p:sp>
      <p:sp>
        <p:nvSpPr>
          <p:cNvPr id="30" name="Text 28"/>
          <p:cNvSpPr/>
          <p:nvPr/>
        </p:nvSpPr>
        <p:spPr>
          <a:xfrm>
            <a:off x="5715000" y="1874520"/>
            <a:ext cx="77724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04</a:t>
            </a:r>
            <a:endParaRPr lang="en-US" sz="1200" dirty="0"/>
          </a:p>
        </p:txBody>
      </p:sp>
      <p:sp>
        <p:nvSpPr>
          <p:cNvPr id="31" name="Text 29"/>
          <p:cNvSpPr/>
          <p:nvPr/>
        </p:nvSpPr>
        <p:spPr>
          <a:xfrm>
            <a:off x="5468112" y="2423160"/>
            <a:ext cx="1280160" cy="411480"/>
          </a:xfrm>
          <a:prstGeom prst="rect">
            <a:avLst/>
          </a:prstGeom>
          <a:noFill/>
          <a:ln/>
        </p:spPr>
        <p:txBody>
          <a:bodyPr wrap="square"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Workshop Repair</a:t>
            </a:r>
            <a:endParaRPr lang="en-US" sz="1050" dirty="0"/>
          </a:p>
        </p:txBody>
      </p:sp>
      <p:sp>
        <p:nvSpPr>
          <p:cNvPr id="32" name="Text 30"/>
          <p:cNvSpPr/>
          <p:nvPr/>
        </p:nvSpPr>
        <p:spPr>
          <a:xfrm>
            <a:off x="5468112" y="2788920"/>
            <a:ext cx="1280160" cy="274320"/>
          </a:xfrm>
          <a:prstGeom prst="rect">
            <a:avLst/>
          </a:prstGeom>
          <a:noFill/>
          <a:ln/>
        </p:spPr>
        <p:txBody>
          <a:bodyPr wrap="square" rtlCol="0" anchor="ctr"/>
          <a:lstStyle/>
          <a:p>
            <a:pPr algn="ctr" indent="0" marL="0">
              <a:buNone/>
            </a:pPr>
            <a:r>
              <a:rPr lang="en-US" sz="900" b="1" dirty="0">
                <a:solidFill>
                  <a:srgbClr val="DC2626"/>
                </a:solidFill>
                <a:latin typeface="Segoe UI" pitchFamily="34" charset="0"/>
                <a:ea typeface="Segoe UI" pitchFamily="34" charset="-122"/>
                <a:cs typeface="Segoe UI" pitchFamily="34" charset="-120"/>
              </a:rPr>
              <a:t>डिफेक्ट रिपेयर</a:t>
            </a:r>
            <a:endParaRPr lang="en-US" sz="900" dirty="0"/>
          </a:p>
        </p:txBody>
      </p:sp>
      <p:sp>
        <p:nvSpPr>
          <p:cNvPr id="33" name="Shape 31"/>
          <p:cNvSpPr/>
          <p:nvPr/>
        </p:nvSpPr>
        <p:spPr>
          <a:xfrm>
            <a:off x="5623560" y="3154680"/>
            <a:ext cx="960120" cy="18288"/>
          </a:xfrm>
          <a:prstGeom prst="rect">
            <a:avLst/>
          </a:prstGeom>
          <a:solidFill>
            <a:srgbClr val="E2E8F0"/>
          </a:solidFill>
          <a:ln w="12700">
            <a:solidFill>
              <a:srgbClr val="333333"/>
            </a:solidFill>
            <a:prstDash val="solid"/>
          </a:ln>
        </p:spPr>
      </p:sp>
      <p:sp>
        <p:nvSpPr>
          <p:cNvPr id="34" name="Text 32"/>
          <p:cNvSpPr/>
          <p:nvPr/>
        </p:nvSpPr>
        <p:spPr>
          <a:xfrm>
            <a:off x="5486400" y="3337560"/>
            <a:ext cx="1234440" cy="2468880"/>
          </a:xfrm>
          <a:prstGeom prst="rect">
            <a:avLst/>
          </a:prstGeom>
          <a:noFill/>
          <a:ln/>
        </p:spPr>
        <p:txBody>
          <a:bodyPr wrap="square" rtlCol="0" anchor="ctr"/>
          <a:lstStyle/>
          <a:p>
            <a:pPr algn="ctr" indent="0" marL="0">
              <a:lnSpc>
                <a:spcPts val="1400"/>
              </a:lnSpc>
              <a:buNone/>
            </a:pPr>
            <a:r>
              <a:rPr lang="en-US" sz="880" dirty="0">
                <a:solidFill>
                  <a:srgbClr val="475569"/>
                </a:solidFill>
                <a:latin typeface="Segoe UI" pitchFamily="34" charset="0"/>
                <a:ea typeface="Segoe UI" pitchFamily="34" charset="-122"/>
                <a:cs typeface="Segoe UI" pitchFamily="34" charset="-120"/>
              </a:rPr>
              <a:t>जॉब कार्ड, डेंट/पेंट सुधार, रिप्लेसमेंट अप्रूवल</a:t>
            </a:r>
            <a:endParaRPr lang="en-US" sz="880" dirty="0"/>
          </a:p>
        </p:txBody>
      </p:sp>
      <p:sp>
        <p:nvSpPr>
          <p:cNvPr id="35" name="Shape 33"/>
          <p:cNvSpPr/>
          <p:nvPr/>
        </p:nvSpPr>
        <p:spPr>
          <a:xfrm>
            <a:off x="6949440" y="1645920"/>
            <a:ext cx="1417320" cy="4389120"/>
          </a:xfrm>
          <a:prstGeom prst="roundRect">
            <a:avLst>
              <a:gd name="adj" fmla="val 6452"/>
            </a:avLst>
          </a:prstGeom>
          <a:solidFill>
            <a:srgbClr val="F8FAFC"/>
          </a:solidFill>
          <a:ln w="12700">
            <a:solidFill>
              <a:srgbClr val="E2E8F0"/>
            </a:solidFill>
            <a:prstDash val="solid"/>
          </a:ln>
        </p:spPr>
      </p:sp>
      <p:sp>
        <p:nvSpPr>
          <p:cNvPr id="36" name="Shape 34"/>
          <p:cNvSpPr/>
          <p:nvPr/>
        </p:nvSpPr>
        <p:spPr>
          <a:xfrm>
            <a:off x="7269480" y="1874520"/>
            <a:ext cx="777240" cy="411480"/>
          </a:xfrm>
          <a:prstGeom prst="roundRect">
            <a:avLst>
              <a:gd name="adj" fmla="val 17778"/>
            </a:avLst>
          </a:prstGeom>
          <a:solidFill>
            <a:srgbClr val="16A34A"/>
          </a:solidFill>
          <a:ln w="12700">
            <a:solidFill>
              <a:srgbClr val="333333"/>
            </a:solidFill>
            <a:prstDash val="solid"/>
          </a:ln>
        </p:spPr>
      </p:sp>
      <p:sp>
        <p:nvSpPr>
          <p:cNvPr id="37" name="Text 35"/>
          <p:cNvSpPr/>
          <p:nvPr/>
        </p:nvSpPr>
        <p:spPr>
          <a:xfrm>
            <a:off x="7269480" y="1874520"/>
            <a:ext cx="77724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05</a:t>
            </a:r>
            <a:endParaRPr lang="en-US" sz="1200" dirty="0"/>
          </a:p>
        </p:txBody>
      </p:sp>
      <p:sp>
        <p:nvSpPr>
          <p:cNvPr id="38" name="Text 36"/>
          <p:cNvSpPr/>
          <p:nvPr/>
        </p:nvSpPr>
        <p:spPr>
          <a:xfrm>
            <a:off x="7022592" y="2423160"/>
            <a:ext cx="1280160" cy="411480"/>
          </a:xfrm>
          <a:prstGeom prst="rect">
            <a:avLst/>
          </a:prstGeom>
          <a:noFill/>
          <a:ln/>
        </p:spPr>
        <p:txBody>
          <a:bodyPr wrap="square"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QA Sign-off</a:t>
            </a:r>
            <a:endParaRPr lang="en-US" sz="1050" dirty="0"/>
          </a:p>
        </p:txBody>
      </p:sp>
      <p:sp>
        <p:nvSpPr>
          <p:cNvPr id="39" name="Text 37"/>
          <p:cNvSpPr/>
          <p:nvPr/>
        </p:nvSpPr>
        <p:spPr>
          <a:xfrm>
            <a:off x="7022592" y="2788920"/>
            <a:ext cx="1280160" cy="274320"/>
          </a:xfrm>
          <a:prstGeom prst="rect">
            <a:avLst/>
          </a:prstGeom>
          <a:noFill/>
          <a:ln/>
        </p:spPr>
        <p:txBody>
          <a:bodyPr wrap="square" rtlCol="0" anchor="ctr"/>
          <a:lstStyle/>
          <a:p>
            <a:pPr algn="ctr" indent="0" marL="0">
              <a:buNone/>
            </a:pPr>
            <a:r>
              <a:rPr lang="en-US" sz="900" b="1" dirty="0">
                <a:solidFill>
                  <a:srgbClr val="16A34A"/>
                </a:solidFill>
                <a:latin typeface="Segoe UI" pitchFamily="34" charset="0"/>
                <a:ea typeface="Segoe UI" pitchFamily="34" charset="-122"/>
                <a:cs typeface="Segoe UI" pitchFamily="34" charset="-120"/>
              </a:rPr>
              <a:t>क्वालिटी सर्टिफ़िकेट</a:t>
            </a:r>
            <a:endParaRPr lang="en-US" sz="900" dirty="0"/>
          </a:p>
        </p:txBody>
      </p:sp>
      <p:sp>
        <p:nvSpPr>
          <p:cNvPr id="40" name="Shape 38"/>
          <p:cNvSpPr/>
          <p:nvPr/>
        </p:nvSpPr>
        <p:spPr>
          <a:xfrm>
            <a:off x="7178040" y="3154680"/>
            <a:ext cx="960120" cy="18288"/>
          </a:xfrm>
          <a:prstGeom prst="rect">
            <a:avLst/>
          </a:prstGeom>
          <a:solidFill>
            <a:srgbClr val="E2E8F0"/>
          </a:solidFill>
          <a:ln w="12700">
            <a:solidFill>
              <a:srgbClr val="333333"/>
            </a:solidFill>
            <a:prstDash val="solid"/>
          </a:ln>
        </p:spPr>
      </p:sp>
      <p:sp>
        <p:nvSpPr>
          <p:cNvPr id="41" name="Text 39"/>
          <p:cNvSpPr/>
          <p:nvPr/>
        </p:nvSpPr>
        <p:spPr>
          <a:xfrm>
            <a:off x="7040880" y="3337560"/>
            <a:ext cx="1234440" cy="2468880"/>
          </a:xfrm>
          <a:prstGeom prst="rect">
            <a:avLst/>
          </a:prstGeom>
          <a:noFill/>
          <a:ln/>
        </p:spPr>
        <p:txBody>
          <a:bodyPr wrap="square" rtlCol="0" anchor="ctr"/>
          <a:lstStyle/>
          <a:p>
            <a:pPr algn="ctr" indent="0" marL="0">
              <a:lnSpc>
                <a:spcPts val="1400"/>
              </a:lnSpc>
              <a:buNone/>
            </a:pPr>
            <a:r>
              <a:rPr lang="en-US" sz="880" dirty="0">
                <a:solidFill>
                  <a:srgbClr val="475569"/>
                </a:solidFill>
                <a:latin typeface="Segoe UI" pitchFamily="34" charset="0"/>
                <a:ea typeface="Segoe UI" pitchFamily="34" charset="-122"/>
                <a:cs typeface="Segoe UI" pitchFamily="34" charset="-120"/>
              </a:rPr>
              <a:t>QA मैनेजर डिजिटल साइन, QR सर्टिफ़िकेट जनरेट</a:t>
            </a:r>
            <a:endParaRPr lang="en-US" sz="880" dirty="0"/>
          </a:p>
        </p:txBody>
      </p:sp>
      <p:sp>
        <p:nvSpPr>
          <p:cNvPr id="42" name="Shape 40"/>
          <p:cNvSpPr/>
          <p:nvPr/>
        </p:nvSpPr>
        <p:spPr>
          <a:xfrm>
            <a:off x="8503920" y="1645920"/>
            <a:ext cx="1417320" cy="4389120"/>
          </a:xfrm>
          <a:prstGeom prst="roundRect">
            <a:avLst>
              <a:gd name="adj" fmla="val 6452"/>
            </a:avLst>
          </a:prstGeom>
          <a:solidFill>
            <a:srgbClr val="F8FAFC"/>
          </a:solidFill>
          <a:ln w="12700">
            <a:solidFill>
              <a:srgbClr val="E2E8F0"/>
            </a:solidFill>
            <a:prstDash val="solid"/>
          </a:ln>
        </p:spPr>
      </p:sp>
      <p:sp>
        <p:nvSpPr>
          <p:cNvPr id="43" name="Shape 41"/>
          <p:cNvSpPr/>
          <p:nvPr/>
        </p:nvSpPr>
        <p:spPr>
          <a:xfrm>
            <a:off x="8823960" y="1874520"/>
            <a:ext cx="777240" cy="411480"/>
          </a:xfrm>
          <a:prstGeom prst="roundRect">
            <a:avLst>
              <a:gd name="adj" fmla="val 17778"/>
            </a:avLst>
          </a:prstGeom>
          <a:solidFill>
            <a:srgbClr val="2563EB"/>
          </a:solidFill>
          <a:ln w="12700">
            <a:solidFill>
              <a:srgbClr val="333333"/>
            </a:solidFill>
            <a:prstDash val="solid"/>
          </a:ln>
        </p:spPr>
      </p:sp>
      <p:sp>
        <p:nvSpPr>
          <p:cNvPr id="44" name="Text 42"/>
          <p:cNvSpPr/>
          <p:nvPr/>
        </p:nvSpPr>
        <p:spPr>
          <a:xfrm>
            <a:off x="8823960" y="1874520"/>
            <a:ext cx="77724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06</a:t>
            </a:r>
            <a:endParaRPr lang="en-US" sz="1200" dirty="0"/>
          </a:p>
        </p:txBody>
      </p:sp>
      <p:sp>
        <p:nvSpPr>
          <p:cNvPr id="45" name="Text 43"/>
          <p:cNvSpPr/>
          <p:nvPr/>
        </p:nvSpPr>
        <p:spPr>
          <a:xfrm>
            <a:off x="8577072" y="2423160"/>
            <a:ext cx="1280160" cy="411480"/>
          </a:xfrm>
          <a:prstGeom prst="rect">
            <a:avLst/>
          </a:prstGeom>
          <a:noFill/>
          <a:ln/>
        </p:spPr>
        <p:txBody>
          <a:bodyPr wrap="square"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PBNA Allotment</a:t>
            </a:r>
            <a:endParaRPr lang="en-US" sz="1050" dirty="0"/>
          </a:p>
        </p:txBody>
      </p:sp>
      <p:sp>
        <p:nvSpPr>
          <p:cNvPr id="46" name="Text 44"/>
          <p:cNvSpPr/>
          <p:nvPr/>
        </p:nvSpPr>
        <p:spPr>
          <a:xfrm>
            <a:off x="8577072" y="2788920"/>
            <a:ext cx="1280160" cy="274320"/>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बुकिंग VIN मैचिंग</a:t>
            </a:r>
            <a:endParaRPr lang="en-US" sz="900" dirty="0"/>
          </a:p>
        </p:txBody>
      </p:sp>
      <p:sp>
        <p:nvSpPr>
          <p:cNvPr id="47" name="Shape 45"/>
          <p:cNvSpPr/>
          <p:nvPr/>
        </p:nvSpPr>
        <p:spPr>
          <a:xfrm>
            <a:off x="8732520" y="3154680"/>
            <a:ext cx="960120" cy="18288"/>
          </a:xfrm>
          <a:prstGeom prst="rect">
            <a:avLst/>
          </a:prstGeom>
          <a:solidFill>
            <a:srgbClr val="E2E8F0"/>
          </a:solidFill>
          <a:ln w="12700">
            <a:solidFill>
              <a:srgbClr val="333333"/>
            </a:solidFill>
            <a:prstDash val="solid"/>
          </a:ln>
        </p:spPr>
      </p:sp>
      <p:sp>
        <p:nvSpPr>
          <p:cNvPr id="48" name="Text 46"/>
          <p:cNvSpPr/>
          <p:nvPr/>
        </p:nvSpPr>
        <p:spPr>
          <a:xfrm>
            <a:off x="8595360" y="3337560"/>
            <a:ext cx="1234440" cy="2468880"/>
          </a:xfrm>
          <a:prstGeom prst="rect">
            <a:avLst/>
          </a:prstGeom>
          <a:noFill/>
          <a:ln/>
        </p:spPr>
        <p:txBody>
          <a:bodyPr wrap="square" rtlCol="0" anchor="ctr"/>
          <a:lstStyle/>
          <a:p>
            <a:pPr algn="ctr" indent="0" marL="0">
              <a:lnSpc>
                <a:spcPts val="1400"/>
              </a:lnSpc>
              <a:buNone/>
            </a:pPr>
            <a:r>
              <a:rPr lang="en-US" sz="880" dirty="0">
                <a:solidFill>
                  <a:srgbClr val="475569"/>
                </a:solidFill>
                <a:latin typeface="Segoe UI" pitchFamily="34" charset="0"/>
                <a:ea typeface="Segoe UI" pitchFamily="34" charset="-122"/>
                <a:cs typeface="Segoe UI" pitchFamily="34" charset="-120"/>
              </a:rPr>
              <a:t>ग्राहक बुकिंग से VIN मैच, फ़्री स्टॉक अलॉटमेंट</a:t>
            </a:r>
            <a:endParaRPr lang="en-US" sz="880" dirty="0"/>
          </a:p>
        </p:txBody>
      </p:sp>
      <p:sp>
        <p:nvSpPr>
          <p:cNvPr id="49" name="Shape 47"/>
          <p:cNvSpPr/>
          <p:nvPr/>
        </p:nvSpPr>
        <p:spPr>
          <a:xfrm>
            <a:off x="10058400" y="1645920"/>
            <a:ext cx="1417320" cy="4389120"/>
          </a:xfrm>
          <a:prstGeom prst="roundRect">
            <a:avLst>
              <a:gd name="adj" fmla="val 6452"/>
            </a:avLst>
          </a:prstGeom>
          <a:solidFill>
            <a:srgbClr val="F8FAFC"/>
          </a:solidFill>
          <a:ln w="12700">
            <a:solidFill>
              <a:srgbClr val="E2E8F0"/>
            </a:solidFill>
            <a:prstDash val="solid"/>
          </a:ln>
        </p:spPr>
      </p:sp>
      <p:sp>
        <p:nvSpPr>
          <p:cNvPr id="50" name="Shape 48"/>
          <p:cNvSpPr/>
          <p:nvPr/>
        </p:nvSpPr>
        <p:spPr>
          <a:xfrm>
            <a:off x="10378440" y="1874520"/>
            <a:ext cx="777240" cy="411480"/>
          </a:xfrm>
          <a:prstGeom prst="roundRect">
            <a:avLst>
              <a:gd name="adj" fmla="val 17778"/>
            </a:avLst>
          </a:prstGeom>
          <a:solidFill>
            <a:srgbClr val="0F172A"/>
          </a:solidFill>
          <a:ln w="12700">
            <a:solidFill>
              <a:srgbClr val="333333"/>
            </a:solidFill>
            <a:prstDash val="solid"/>
          </a:ln>
        </p:spPr>
      </p:sp>
      <p:sp>
        <p:nvSpPr>
          <p:cNvPr id="51" name="Text 49"/>
          <p:cNvSpPr/>
          <p:nvPr/>
        </p:nvSpPr>
        <p:spPr>
          <a:xfrm>
            <a:off x="10378440" y="1874520"/>
            <a:ext cx="777240" cy="411480"/>
          </a:xfrm>
          <a:prstGeom prst="rect">
            <a:avLst/>
          </a:prstGeom>
          <a:noFill/>
          <a:ln/>
        </p:spPr>
        <p:txBody>
          <a:bodyPr wrap="square"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07</a:t>
            </a:r>
            <a:endParaRPr lang="en-US" sz="1200" dirty="0"/>
          </a:p>
        </p:txBody>
      </p:sp>
      <p:sp>
        <p:nvSpPr>
          <p:cNvPr id="52" name="Text 50"/>
          <p:cNvSpPr/>
          <p:nvPr/>
        </p:nvSpPr>
        <p:spPr>
          <a:xfrm>
            <a:off x="10131552" y="2423160"/>
            <a:ext cx="1280160" cy="411480"/>
          </a:xfrm>
          <a:prstGeom prst="rect">
            <a:avLst/>
          </a:prstGeom>
          <a:noFill/>
          <a:ln/>
        </p:spPr>
        <p:txBody>
          <a:bodyPr wrap="square" rtlCol="0" anchor="ctr"/>
          <a:lstStyle/>
          <a:p>
            <a:pPr algn="ctr" indent="0" marL="0">
              <a:buNone/>
            </a:pPr>
            <a:r>
              <a:rPr lang="en-US" sz="1050" b="1" dirty="0">
                <a:solidFill>
                  <a:srgbClr val="0F172A"/>
                </a:solidFill>
                <a:latin typeface="Segoe UI" pitchFamily="34" charset="0"/>
                <a:ea typeface="Segoe UI" pitchFamily="34" charset="-122"/>
                <a:cs typeface="Segoe UI" pitchFamily="34" charset="-120"/>
              </a:rPr>
              <a:t>Gatepass Out</a:t>
            </a:r>
            <a:endParaRPr lang="en-US" sz="1050" dirty="0"/>
          </a:p>
        </p:txBody>
      </p:sp>
      <p:sp>
        <p:nvSpPr>
          <p:cNvPr id="53" name="Text 51"/>
          <p:cNvSpPr/>
          <p:nvPr/>
        </p:nvSpPr>
        <p:spPr>
          <a:xfrm>
            <a:off x="10131552" y="2788920"/>
            <a:ext cx="1280160" cy="274320"/>
          </a:xfrm>
          <a:prstGeom prst="rect">
            <a:avLst/>
          </a:prstGeom>
          <a:noFill/>
          <a:ln/>
        </p:spPr>
        <p:txBody>
          <a:bodyPr wrap="square" rtlCol="0" anchor="ctr"/>
          <a:lstStyle/>
          <a:p>
            <a:pPr algn="ctr" indent="0" marL="0">
              <a:buNone/>
            </a:pPr>
            <a:r>
              <a:rPr lang="en-US" sz="900" b="1" dirty="0">
                <a:solidFill>
                  <a:srgbClr val="0F172A"/>
                </a:solidFill>
                <a:latin typeface="Segoe UI" pitchFamily="34" charset="0"/>
                <a:ea typeface="Segoe UI" pitchFamily="34" charset="-122"/>
                <a:cs typeface="Segoe UI" pitchFamily="34" charset="-120"/>
              </a:rPr>
              <a:t>टैक्स चालान डिलीवरी</a:t>
            </a:r>
            <a:endParaRPr lang="en-US" sz="900" dirty="0"/>
          </a:p>
        </p:txBody>
      </p:sp>
      <p:sp>
        <p:nvSpPr>
          <p:cNvPr id="54" name="Shape 52"/>
          <p:cNvSpPr/>
          <p:nvPr/>
        </p:nvSpPr>
        <p:spPr>
          <a:xfrm>
            <a:off x="10287000" y="3154680"/>
            <a:ext cx="960120" cy="18288"/>
          </a:xfrm>
          <a:prstGeom prst="rect">
            <a:avLst/>
          </a:prstGeom>
          <a:solidFill>
            <a:srgbClr val="E2E8F0"/>
          </a:solidFill>
          <a:ln w="12700">
            <a:solidFill>
              <a:srgbClr val="333333"/>
            </a:solidFill>
            <a:prstDash val="solid"/>
          </a:ln>
        </p:spPr>
      </p:sp>
      <p:sp>
        <p:nvSpPr>
          <p:cNvPr id="55" name="Text 53"/>
          <p:cNvSpPr/>
          <p:nvPr/>
        </p:nvSpPr>
        <p:spPr>
          <a:xfrm>
            <a:off x="10149840" y="3337560"/>
            <a:ext cx="1234440" cy="2468880"/>
          </a:xfrm>
          <a:prstGeom prst="rect">
            <a:avLst/>
          </a:prstGeom>
          <a:noFill/>
          <a:ln/>
        </p:spPr>
        <p:txBody>
          <a:bodyPr wrap="square" rtlCol="0" anchor="ctr"/>
          <a:lstStyle/>
          <a:p>
            <a:pPr algn="ctr" indent="0" marL="0">
              <a:lnSpc>
                <a:spcPts val="1400"/>
              </a:lnSpc>
              <a:buNone/>
            </a:pPr>
            <a:r>
              <a:rPr lang="en-US" sz="880" dirty="0">
                <a:solidFill>
                  <a:srgbClr val="475569"/>
                </a:solidFill>
                <a:latin typeface="Segoe UI" pitchFamily="34" charset="0"/>
                <a:ea typeface="Segoe UI" pitchFamily="34" charset="-122"/>
                <a:cs typeface="Segoe UI" pitchFamily="34" charset="-120"/>
              </a:rPr>
              <a:t>डिलीवरी चालान, टैक्स इनवॉइस, सिक्योरिटी गेटपास</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MODULE 01 • YARD RECEIVING</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मॉड्यूल 1: कैरियर अनलोडिंग एवं ट्रांजिट डैमेज इंस्पेक्शन</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4</a:t>
            </a:r>
            <a:endParaRPr lang="en-US" sz="900" dirty="0"/>
          </a:p>
        </p:txBody>
      </p:sp>
      <p:sp>
        <p:nvSpPr>
          <p:cNvPr id="7" name="Shape 5"/>
          <p:cNvSpPr/>
          <p:nvPr/>
        </p:nvSpPr>
        <p:spPr>
          <a:xfrm>
            <a:off x="731520" y="1463040"/>
            <a:ext cx="3429000" cy="4663440"/>
          </a:xfrm>
          <a:prstGeom prst="roundRect">
            <a:avLst>
              <a:gd name="adj" fmla="val 3200"/>
            </a:avLst>
          </a:prstGeom>
          <a:solidFill>
            <a:srgbClr val="EFF6FF"/>
          </a:solidFill>
          <a:ln w="15240">
            <a:solidFill>
              <a:srgbClr val="2563EB"/>
            </a:solidFill>
            <a:prstDash val="solid"/>
          </a:ln>
        </p:spPr>
      </p:sp>
      <p:sp>
        <p:nvSpPr>
          <p:cNvPr id="8" name="Text 6"/>
          <p:cNvSpPr/>
          <p:nvPr/>
        </p:nvSpPr>
        <p:spPr>
          <a:xfrm>
            <a:off x="960120" y="1691640"/>
            <a:ext cx="2971800" cy="411480"/>
          </a:xfrm>
          <a:prstGeom prst="rect">
            <a:avLst/>
          </a:prstGeom>
          <a:noFill/>
          <a:ln/>
        </p:spPr>
        <p:txBody>
          <a:bodyPr wrap="square" rtlCol="0" anchor="ctr"/>
          <a:lstStyle/>
          <a:p>
            <a:pPr indent="0" marL="0">
              <a:buNone/>
            </a:pPr>
            <a:r>
              <a:rPr lang="en-US" sz="1250" b="1" dirty="0">
                <a:solidFill>
                  <a:srgbClr val="2563EB"/>
                </a:solidFill>
                <a:latin typeface="Segoe UI" pitchFamily="34" charset="0"/>
                <a:ea typeface="Segoe UI" pitchFamily="34" charset="-122"/>
                <a:cs typeface="Segoe UI" pitchFamily="34" charset="-120"/>
              </a:rPr>
              <a:t>1. कहाँ करना होता है? (Where)</a:t>
            </a:r>
            <a:endParaRPr lang="en-US" sz="1250" dirty="0"/>
          </a:p>
        </p:txBody>
      </p:sp>
      <p:sp>
        <p:nvSpPr>
          <p:cNvPr id="9" name="Text 7"/>
          <p:cNvSpPr/>
          <p:nvPr/>
        </p:nvSpPr>
        <p:spPr>
          <a:xfrm>
            <a:off x="960120" y="22402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स्क्रीन: Yard Management &gt; Carrier Inward</a:t>
            </a:r>
            <a:endParaRPr lang="en-US" sz="980" dirty="0"/>
          </a:p>
        </p:txBody>
      </p:sp>
      <p:sp>
        <p:nvSpPr>
          <p:cNvPr id="10" name="Text 8"/>
          <p:cNvSpPr/>
          <p:nvPr/>
        </p:nvSpPr>
        <p:spPr>
          <a:xfrm>
            <a:off x="960120" y="29260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URL: /yard/receiving</a:t>
            </a:r>
            <a:endParaRPr lang="en-US" sz="980" dirty="0"/>
          </a:p>
        </p:txBody>
      </p:sp>
      <p:sp>
        <p:nvSpPr>
          <p:cNvPr id="11" name="Text 9"/>
          <p:cNvSpPr/>
          <p:nvPr/>
        </p:nvSpPr>
        <p:spPr>
          <a:xfrm>
            <a:off x="960120" y="36118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अधिकृत यूजर: Yard Supervisor / Inward Gate Officer</a:t>
            </a:r>
            <a:endParaRPr lang="en-US" sz="980" dirty="0"/>
          </a:p>
        </p:txBody>
      </p:sp>
      <p:sp>
        <p:nvSpPr>
          <p:cNvPr id="12" name="Text 10"/>
          <p:cNvSpPr/>
          <p:nvPr/>
        </p:nvSpPr>
        <p:spPr>
          <a:xfrm>
            <a:off x="960120" y="42976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डिवाइस: मोबाइल, टैबलेट या कंप्यूटर</a:t>
            </a:r>
            <a:endParaRPr lang="en-US" sz="980" dirty="0"/>
          </a:p>
        </p:txBody>
      </p:sp>
      <p:sp>
        <p:nvSpPr>
          <p:cNvPr id="13" name="Shape 11"/>
          <p:cNvSpPr/>
          <p:nvPr/>
        </p:nvSpPr>
        <p:spPr>
          <a:xfrm>
            <a:off x="4370832" y="1463040"/>
            <a:ext cx="3429000" cy="4663440"/>
          </a:xfrm>
          <a:prstGeom prst="roundRect">
            <a:avLst>
              <a:gd name="adj" fmla="val 3200"/>
            </a:avLst>
          </a:prstGeom>
          <a:solidFill>
            <a:srgbClr val="FFFBEB"/>
          </a:solidFill>
          <a:ln w="15240">
            <a:solidFill>
              <a:srgbClr val="D97706"/>
            </a:solidFill>
            <a:prstDash val="solid"/>
          </a:ln>
        </p:spPr>
      </p:sp>
      <p:sp>
        <p:nvSpPr>
          <p:cNvPr id="14" name="Text 12"/>
          <p:cNvSpPr/>
          <p:nvPr/>
        </p:nvSpPr>
        <p:spPr>
          <a:xfrm>
            <a:off x="4599432" y="1691640"/>
            <a:ext cx="2971800" cy="411480"/>
          </a:xfrm>
          <a:prstGeom prst="rect">
            <a:avLst/>
          </a:prstGeom>
          <a:noFill/>
          <a:ln/>
        </p:spPr>
        <p:txBody>
          <a:bodyPr wrap="square" rtlCol="0" anchor="ctr"/>
          <a:lstStyle/>
          <a:p>
            <a:pPr indent="0" marL="0">
              <a:buNone/>
            </a:pPr>
            <a:r>
              <a:rPr lang="en-US" sz="1250" b="1" dirty="0">
                <a:solidFill>
                  <a:srgbClr val="D97706"/>
                </a:solidFill>
                <a:latin typeface="Segoe UI" pitchFamily="34" charset="0"/>
                <a:ea typeface="Segoe UI" pitchFamily="34" charset="-122"/>
                <a:cs typeface="Segoe UI" pitchFamily="34" charset="-120"/>
              </a:rPr>
              <a:t>2. कैसे करना होता है? (How To Do)</a:t>
            </a:r>
            <a:endParaRPr lang="en-US" sz="1250" dirty="0"/>
          </a:p>
        </p:txBody>
      </p:sp>
      <p:sp>
        <p:nvSpPr>
          <p:cNvPr id="15" name="Text 13"/>
          <p:cNvSpPr/>
          <p:nvPr/>
        </p:nvSpPr>
        <p:spPr>
          <a:xfrm>
            <a:off x="4599432" y="22402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1: कैरियर ट्रक नंबर व LR/Bilty नंबर दर्ज करें।</a:t>
            </a:r>
            <a:endParaRPr lang="en-US" sz="980" dirty="0"/>
          </a:p>
        </p:txBody>
      </p:sp>
      <p:sp>
        <p:nvSpPr>
          <p:cNvPr id="16" name="Text 14"/>
          <p:cNvSpPr/>
          <p:nvPr/>
        </p:nvSpPr>
        <p:spPr>
          <a:xfrm>
            <a:off x="4599432" y="29260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2: अनलोड होते ही गाड़ी का VIN बारकोड स्कैन करें।</a:t>
            </a:r>
            <a:endParaRPr lang="en-US" sz="980" dirty="0"/>
          </a:p>
        </p:txBody>
      </p:sp>
      <p:sp>
        <p:nvSpPr>
          <p:cNvPr id="17" name="Text 15"/>
          <p:cNvSpPr/>
          <p:nvPr/>
        </p:nvSpPr>
        <p:spPr>
          <a:xfrm>
            <a:off x="4599432" y="36118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3: बॉडी पैनल्स, ग्लास, टायर, और टूलकिट की जांच करें।</a:t>
            </a:r>
            <a:endParaRPr lang="en-US" sz="980" dirty="0"/>
          </a:p>
        </p:txBody>
      </p:sp>
      <p:sp>
        <p:nvSpPr>
          <p:cNvPr id="18" name="Text 16"/>
          <p:cNvSpPr/>
          <p:nvPr/>
        </p:nvSpPr>
        <p:spPr>
          <a:xfrm>
            <a:off x="4599432" y="42976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4: यदि डैमेज मिले तो तुरंत फोटो खींचकर "Transit Damage Claim" में दर्ज करें।</a:t>
            </a:r>
            <a:endParaRPr lang="en-US" sz="980" dirty="0"/>
          </a:p>
        </p:txBody>
      </p:sp>
      <p:sp>
        <p:nvSpPr>
          <p:cNvPr id="19" name="Text 17"/>
          <p:cNvSpPr/>
          <p:nvPr/>
        </p:nvSpPr>
        <p:spPr>
          <a:xfrm>
            <a:off x="4599432" y="49834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5: ड्राइवर के काउंटर-साइन लेकर रिसीविंग रसीद जनरेट करें।</a:t>
            </a:r>
            <a:endParaRPr lang="en-US" sz="980" dirty="0"/>
          </a:p>
        </p:txBody>
      </p:sp>
      <p:sp>
        <p:nvSpPr>
          <p:cNvPr id="20" name="Shape 18"/>
          <p:cNvSpPr/>
          <p:nvPr/>
        </p:nvSpPr>
        <p:spPr>
          <a:xfrm>
            <a:off x="8010144" y="1463040"/>
            <a:ext cx="3429000" cy="4663440"/>
          </a:xfrm>
          <a:prstGeom prst="roundRect">
            <a:avLst>
              <a:gd name="adj" fmla="val 3200"/>
            </a:avLst>
          </a:prstGeom>
          <a:solidFill>
            <a:srgbClr val="F0FDF4"/>
          </a:solidFill>
          <a:ln w="15240">
            <a:solidFill>
              <a:srgbClr val="16A34A"/>
            </a:solidFill>
            <a:prstDash val="solid"/>
          </a:ln>
        </p:spPr>
      </p:sp>
      <p:sp>
        <p:nvSpPr>
          <p:cNvPr id="21" name="Text 19"/>
          <p:cNvSpPr/>
          <p:nvPr/>
        </p:nvSpPr>
        <p:spPr>
          <a:xfrm>
            <a:off x="8238744" y="1691640"/>
            <a:ext cx="2971800" cy="411480"/>
          </a:xfrm>
          <a:prstGeom prst="rect">
            <a:avLst/>
          </a:prstGeom>
          <a:noFill/>
          <a:ln/>
        </p:spPr>
        <p:txBody>
          <a:bodyPr wrap="square" rtlCol="0" anchor="ctr"/>
          <a:lstStyle/>
          <a:p>
            <a:pPr indent="0" marL="0">
              <a:buNone/>
            </a:pPr>
            <a:r>
              <a:rPr lang="en-US" sz="1250" b="1" dirty="0">
                <a:solidFill>
                  <a:srgbClr val="16A34A"/>
                </a:solidFill>
                <a:latin typeface="Segoe UI" pitchFamily="34" charset="0"/>
                <a:ea typeface="Segoe UI" pitchFamily="34" charset="-122"/>
                <a:cs typeface="Segoe UI" pitchFamily="34" charset="-120"/>
              </a:rPr>
              <a:t>3. इसका क्या फायदा है? (Benefits)</a:t>
            </a:r>
            <a:endParaRPr lang="en-US" sz="1250" dirty="0"/>
          </a:p>
        </p:txBody>
      </p:sp>
      <p:sp>
        <p:nvSpPr>
          <p:cNvPr id="22" name="Text 20"/>
          <p:cNvSpPr/>
          <p:nvPr/>
        </p:nvSpPr>
        <p:spPr>
          <a:xfrm>
            <a:off x="8238744" y="22402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100% क्लेम रिकवरी: अनलोडिंग के 2 घंटे के भीतर OEM या ट्रांसपोर्टर पर पेनल्टी/क्लेम क्लेम हो जाता है।</a:t>
            </a:r>
            <a:endParaRPr lang="en-US" sz="980" dirty="0"/>
          </a:p>
        </p:txBody>
      </p:sp>
      <p:sp>
        <p:nvSpPr>
          <p:cNvPr id="23" name="Text 21"/>
          <p:cNvSpPr/>
          <p:nvPr/>
        </p:nvSpPr>
        <p:spPr>
          <a:xfrm>
            <a:off x="8238744" y="29260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डीलरशिप को शून्य नुकसान: डीलरशिप को अपने पास से रिपेयरिंग का खर्चा नहीं उठाना पड़ता।</a:t>
            </a:r>
            <a:endParaRPr lang="en-US" sz="980" dirty="0"/>
          </a:p>
        </p:txBody>
      </p:sp>
      <p:sp>
        <p:nvSpPr>
          <p:cNvPr id="24" name="Text 22"/>
          <p:cNvSpPr/>
          <p:nvPr/>
        </p:nvSpPr>
        <p:spPr>
          <a:xfrm>
            <a:off x="8238744" y="3611880"/>
            <a:ext cx="2971800" cy="640080"/>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मिसिंग टूल्स की रोकथाम: जैक, स्पेयर व्हील, टूलकिट चोरी की 100% रोकथाम।</a:t>
            </a:r>
            <a:endParaRPr lang="en-US" sz="9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MODULE 02 • VEHICLE STOCK</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मॉड्यूल 2: लाइव स्टॉक इन्वेंट्री एवं एक्सेल इम्पोर्ट/डिलीट</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5</a:t>
            </a:r>
            <a:endParaRPr lang="en-US" sz="900" dirty="0"/>
          </a:p>
        </p:txBody>
      </p:sp>
      <p:sp>
        <p:nvSpPr>
          <p:cNvPr id="7" name="Shape 5"/>
          <p:cNvSpPr/>
          <p:nvPr/>
        </p:nvSpPr>
        <p:spPr>
          <a:xfrm>
            <a:off x="731520" y="1463040"/>
            <a:ext cx="3429000" cy="4663440"/>
          </a:xfrm>
          <a:prstGeom prst="roundRect">
            <a:avLst>
              <a:gd name="adj" fmla="val 3200"/>
            </a:avLst>
          </a:prstGeom>
          <a:solidFill>
            <a:srgbClr val="EFF6FF"/>
          </a:solidFill>
          <a:ln w="15240">
            <a:solidFill>
              <a:srgbClr val="2563EB"/>
            </a:solidFill>
            <a:prstDash val="solid"/>
          </a:ln>
        </p:spPr>
      </p:sp>
      <p:sp>
        <p:nvSpPr>
          <p:cNvPr id="8" name="Text 6"/>
          <p:cNvSpPr/>
          <p:nvPr/>
        </p:nvSpPr>
        <p:spPr>
          <a:xfrm>
            <a:off x="960120" y="1691640"/>
            <a:ext cx="2971800" cy="411480"/>
          </a:xfrm>
          <a:prstGeom prst="rect">
            <a:avLst/>
          </a:prstGeom>
          <a:noFill/>
          <a:ln/>
        </p:spPr>
        <p:txBody>
          <a:bodyPr wrap="square" rtlCol="0" anchor="ctr"/>
          <a:lstStyle/>
          <a:p>
            <a:pPr indent="0" marL="0">
              <a:buNone/>
            </a:pPr>
            <a:r>
              <a:rPr lang="en-US" sz="1250" b="1" dirty="0">
                <a:solidFill>
                  <a:srgbClr val="2563EB"/>
                </a:solidFill>
                <a:latin typeface="Segoe UI" pitchFamily="34" charset="0"/>
                <a:ea typeface="Segoe UI" pitchFamily="34" charset="-122"/>
                <a:cs typeface="Segoe UI" pitchFamily="34" charset="-120"/>
              </a:rPr>
              <a:t>1. कहाँ करना होता है? (Where)</a:t>
            </a:r>
            <a:endParaRPr lang="en-US" sz="1250" dirty="0"/>
          </a:p>
        </p:txBody>
      </p:sp>
      <p:sp>
        <p:nvSpPr>
          <p:cNvPr id="9" name="Text 7"/>
          <p:cNvSpPr/>
          <p:nvPr/>
        </p:nvSpPr>
        <p:spPr>
          <a:xfrm>
            <a:off x="960120"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स्क्रीन: Vehicle Stock Management</a:t>
            </a:r>
            <a:endParaRPr lang="en-US" sz="980" dirty="0"/>
          </a:p>
        </p:txBody>
      </p:sp>
      <p:sp>
        <p:nvSpPr>
          <p:cNvPr id="10" name="Text 8"/>
          <p:cNvSpPr/>
          <p:nvPr/>
        </p:nvSpPr>
        <p:spPr>
          <a:xfrm>
            <a:off x="960120"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URL: /vehicles</a:t>
            </a:r>
            <a:endParaRPr lang="en-US" sz="980" dirty="0"/>
          </a:p>
        </p:txBody>
      </p:sp>
      <p:sp>
        <p:nvSpPr>
          <p:cNvPr id="11" name="Text 9"/>
          <p:cNvSpPr/>
          <p:nvPr/>
        </p:nvSpPr>
        <p:spPr>
          <a:xfrm>
            <a:off x="960120"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अधिकृत यूजर: Inventory Manager, General Manager, Super Admin</a:t>
            </a:r>
            <a:endParaRPr lang="en-US" sz="980" dirty="0"/>
          </a:p>
        </p:txBody>
      </p:sp>
      <p:sp>
        <p:nvSpPr>
          <p:cNvPr id="12" name="Text 10"/>
          <p:cNvSpPr/>
          <p:nvPr/>
        </p:nvSpPr>
        <p:spPr>
          <a:xfrm>
            <a:off x="960120"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डेटा स्कोप: Tata Motors Stock / Hyundai Stock / All Brands</a:t>
            </a:r>
            <a:endParaRPr lang="en-US" sz="980" dirty="0"/>
          </a:p>
        </p:txBody>
      </p:sp>
      <p:sp>
        <p:nvSpPr>
          <p:cNvPr id="13" name="Shape 11"/>
          <p:cNvSpPr/>
          <p:nvPr/>
        </p:nvSpPr>
        <p:spPr>
          <a:xfrm>
            <a:off x="4370832" y="1463040"/>
            <a:ext cx="3429000" cy="4663440"/>
          </a:xfrm>
          <a:prstGeom prst="roundRect">
            <a:avLst>
              <a:gd name="adj" fmla="val 3200"/>
            </a:avLst>
          </a:prstGeom>
          <a:solidFill>
            <a:srgbClr val="FFFBEB"/>
          </a:solidFill>
          <a:ln w="15240">
            <a:solidFill>
              <a:srgbClr val="D97706"/>
            </a:solidFill>
            <a:prstDash val="solid"/>
          </a:ln>
        </p:spPr>
      </p:sp>
      <p:sp>
        <p:nvSpPr>
          <p:cNvPr id="14" name="Text 12"/>
          <p:cNvSpPr/>
          <p:nvPr/>
        </p:nvSpPr>
        <p:spPr>
          <a:xfrm>
            <a:off x="4599432" y="1691640"/>
            <a:ext cx="2971800" cy="411480"/>
          </a:xfrm>
          <a:prstGeom prst="rect">
            <a:avLst/>
          </a:prstGeom>
          <a:noFill/>
          <a:ln/>
        </p:spPr>
        <p:txBody>
          <a:bodyPr wrap="square" rtlCol="0" anchor="ctr"/>
          <a:lstStyle/>
          <a:p>
            <a:pPr indent="0" marL="0">
              <a:buNone/>
            </a:pPr>
            <a:r>
              <a:rPr lang="en-US" sz="1250" b="1" dirty="0">
                <a:solidFill>
                  <a:srgbClr val="D97706"/>
                </a:solidFill>
                <a:latin typeface="Segoe UI" pitchFamily="34" charset="0"/>
                <a:ea typeface="Segoe UI" pitchFamily="34" charset="-122"/>
                <a:cs typeface="Segoe UI" pitchFamily="34" charset="-120"/>
              </a:rPr>
              <a:t>2. कैसे करना होता है? (How To Do)</a:t>
            </a:r>
            <a:endParaRPr lang="en-US" sz="1250" dirty="0"/>
          </a:p>
        </p:txBody>
      </p:sp>
      <p:sp>
        <p:nvSpPr>
          <p:cNvPr id="15" name="Text 13"/>
          <p:cNvSpPr/>
          <p:nvPr/>
        </p:nvSpPr>
        <p:spPr>
          <a:xfrm>
            <a:off x="4599432"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बल्क एक्सेल इम्पोर्ट: "Import Stock CSV" से 500+ गाड़ियां 3 सेकंड में लोड करें। ऑटो-कॉलम मैपिंग उपलब्ध है।</a:t>
            </a:r>
            <a:endParaRPr lang="en-US" sz="980" dirty="0"/>
          </a:p>
        </p:txBody>
      </p:sp>
      <p:sp>
        <p:nvSpPr>
          <p:cNvPr id="16" name="Text 14"/>
          <p:cNvSpPr/>
          <p:nvPr/>
        </p:nvSpPr>
        <p:spPr>
          <a:xfrm>
            <a:off x="4599432"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लाइव फ़िल्टर: मॉडल, रंग, फ्यूल (EV/CNG/Petrol), एजिंग (0-30 दिन, 90+ दिन) से तुरंत खोजें।</a:t>
            </a:r>
            <a:endParaRPr lang="en-US" sz="980" dirty="0"/>
          </a:p>
        </p:txBody>
      </p:sp>
      <p:sp>
        <p:nvSpPr>
          <p:cNvPr id="17" name="Text 15"/>
          <p:cNvSpPr/>
          <p:nvPr/>
        </p:nvSpPr>
        <p:spPr>
          <a:xfrm>
            <a:off x="4599432"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डिलीट मैनेजमेंट: सिंगल गाड़ी डिलीट (Trash बटन) या मल्टी-सेलेक्ट करके "Delete Selected" करें।</a:t>
            </a:r>
            <a:endParaRPr lang="en-US" sz="980" dirty="0"/>
          </a:p>
        </p:txBody>
      </p:sp>
      <p:sp>
        <p:nvSpPr>
          <p:cNvPr id="18" name="Text 16"/>
          <p:cNvSpPr/>
          <p:nvPr/>
        </p:nvSpPr>
        <p:spPr>
          <a:xfrm>
            <a:off x="4599432"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फ़ैक्टरी रीसेट: "Manage Stock" से केवल कस्टम एक्सेल डेटा हटाएं या फ़ैक्टरी मास्टर रीस्टोर करें।</a:t>
            </a:r>
            <a:endParaRPr lang="en-US" sz="980" dirty="0"/>
          </a:p>
        </p:txBody>
      </p:sp>
      <p:sp>
        <p:nvSpPr>
          <p:cNvPr id="19" name="Shape 17"/>
          <p:cNvSpPr/>
          <p:nvPr/>
        </p:nvSpPr>
        <p:spPr>
          <a:xfrm>
            <a:off x="8010144" y="1463040"/>
            <a:ext cx="3429000" cy="4663440"/>
          </a:xfrm>
          <a:prstGeom prst="roundRect">
            <a:avLst>
              <a:gd name="adj" fmla="val 3200"/>
            </a:avLst>
          </a:prstGeom>
          <a:solidFill>
            <a:srgbClr val="F0FDF4"/>
          </a:solidFill>
          <a:ln w="15240">
            <a:solidFill>
              <a:srgbClr val="16A34A"/>
            </a:solidFill>
            <a:prstDash val="solid"/>
          </a:ln>
        </p:spPr>
      </p:sp>
      <p:sp>
        <p:nvSpPr>
          <p:cNvPr id="20" name="Text 18"/>
          <p:cNvSpPr/>
          <p:nvPr/>
        </p:nvSpPr>
        <p:spPr>
          <a:xfrm>
            <a:off x="8238744" y="1691640"/>
            <a:ext cx="2971800" cy="411480"/>
          </a:xfrm>
          <a:prstGeom prst="rect">
            <a:avLst/>
          </a:prstGeom>
          <a:noFill/>
          <a:ln/>
        </p:spPr>
        <p:txBody>
          <a:bodyPr wrap="square" rtlCol="0" anchor="ctr"/>
          <a:lstStyle/>
          <a:p>
            <a:pPr indent="0" marL="0">
              <a:buNone/>
            </a:pPr>
            <a:r>
              <a:rPr lang="en-US" sz="1250" b="1" dirty="0">
                <a:solidFill>
                  <a:srgbClr val="16A34A"/>
                </a:solidFill>
                <a:latin typeface="Segoe UI" pitchFamily="34" charset="0"/>
                <a:ea typeface="Segoe UI" pitchFamily="34" charset="-122"/>
                <a:cs typeface="Segoe UI" pitchFamily="34" charset="-120"/>
              </a:rPr>
              <a:t>3. इसका क्या फायदा है? (Benefits)</a:t>
            </a:r>
            <a:endParaRPr lang="en-US" sz="1250" dirty="0"/>
          </a:p>
        </p:txBody>
      </p:sp>
      <p:sp>
        <p:nvSpPr>
          <p:cNvPr id="21" name="Text 19"/>
          <p:cNvSpPr/>
          <p:nvPr/>
        </p:nvSpPr>
        <p:spPr>
          <a:xfrm>
            <a:off x="8238744"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सटीक इन्वेंट्री: हर सेकंड पता रहता है कि Basni Yard या Shantinath Yard में किस मॉडल की कितनी गाड़ियाँ हैं।</a:t>
            </a:r>
            <a:endParaRPr lang="en-US" sz="980" dirty="0"/>
          </a:p>
        </p:txBody>
      </p:sp>
      <p:sp>
        <p:nvSpPr>
          <p:cNvPr id="22" name="Text 20"/>
          <p:cNvSpPr/>
          <p:nvPr/>
        </p:nvSpPr>
        <p:spPr>
          <a:xfrm>
            <a:off x="8238744"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डेड स्टॉक रोकथाम: 60+ दिन पुरानी गाड़ियों का तुरंत अलर्ट मिलता है ताकि उन पर पहले डिस्काउंट देकर निकाला जा सके।</a:t>
            </a:r>
            <a:endParaRPr lang="en-US" sz="980" dirty="0"/>
          </a:p>
        </p:txBody>
      </p:sp>
      <p:sp>
        <p:nvSpPr>
          <p:cNvPr id="23" name="Text 21"/>
          <p:cNvSpPr/>
          <p:nvPr/>
        </p:nvSpPr>
        <p:spPr>
          <a:xfrm>
            <a:off x="8238744"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सुरक्षित डिलीशन: डिलीटेड VINs टॉम्बस्टोन में सेव होते हैं ताकि पेज रीलोड पर दोबारा न आएं।</a:t>
            </a:r>
            <a:endParaRPr lang="en-US" sz="9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MODULE 03 • DIGITAL PDI</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मॉड्यूल 3: डिजिटल प्री-डिलीवरी इंस्पेक्शन (PDI Checklist)</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6</a:t>
            </a:r>
            <a:endParaRPr lang="en-US" sz="900" dirty="0"/>
          </a:p>
        </p:txBody>
      </p:sp>
      <p:sp>
        <p:nvSpPr>
          <p:cNvPr id="7" name="Shape 5"/>
          <p:cNvSpPr/>
          <p:nvPr/>
        </p:nvSpPr>
        <p:spPr>
          <a:xfrm>
            <a:off x="731520" y="1463040"/>
            <a:ext cx="3429000" cy="4663440"/>
          </a:xfrm>
          <a:prstGeom prst="roundRect">
            <a:avLst>
              <a:gd name="adj" fmla="val 3200"/>
            </a:avLst>
          </a:prstGeom>
          <a:solidFill>
            <a:srgbClr val="EFF6FF"/>
          </a:solidFill>
          <a:ln w="15240">
            <a:solidFill>
              <a:srgbClr val="2563EB"/>
            </a:solidFill>
            <a:prstDash val="solid"/>
          </a:ln>
        </p:spPr>
      </p:sp>
      <p:sp>
        <p:nvSpPr>
          <p:cNvPr id="8" name="Text 6"/>
          <p:cNvSpPr/>
          <p:nvPr/>
        </p:nvSpPr>
        <p:spPr>
          <a:xfrm>
            <a:off x="960120" y="1691640"/>
            <a:ext cx="2971800" cy="411480"/>
          </a:xfrm>
          <a:prstGeom prst="rect">
            <a:avLst/>
          </a:prstGeom>
          <a:noFill/>
          <a:ln/>
        </p:spPr>
        <p:txBody>
          <a:bodyPr wrap="square" rtlCol="0" anchor="ctr"/>
          <a:lstStyle/>
          <a:p>
            <a:pPr indent="0" marL="0">
              <a:buNone/>
            </a:pPr>
            <a:r>
              <a:rPr lang="en-US" sz="1250" b="1" dirty="0">
                <a:solidFill>
                  <a:srgbClr val="2563EB"/>
                </a:solidFill>
                <a:latin typeface="Segoe UI" pitchFamily="34" charset="0"/>
                <a:ea typeface="Segoe UI" pitchFamily="34" charset="-122"/>
                <a:cs typeface="Segoe UI" pitchFamily="34" charset="-120"/>
              </a:rPr>
              <a:t>1. कहाँ करना होता है? (Where)</a:t>
            </a:r>
            <a:endParaRPr lang="en-US" sz="1250" dirty="0"/>
          </a:p>
        </p:txBody>
      </p:sp>
      <p:sp>
        <p:nvSpPr>
          <p:cNvPr id="9" name="Text 7"/>
          <p:cNvSpPr/>
          <p:nvPr/>
        </p:nvSpPr>
        <p:spPr>
          <a:xfrm>
            <a:off x="960120"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स्क्रीन: PDI Queue &gt; Active PDI Session</a:t>
            </a:r>
            <a:endParaRPr lang="en-US" sz="980" dirty="0"/>
          </a:p>
        </p:txBody>
      </p:sp>
      <p:sp>
        <p:nvSpPr>
          <p:cNvPr id="10" name="Text 8"/>
          <p:cNvSpPr/>
          <p:nvPr/>
        </p:nvSpPr>
        <p:spPr>
          <a:xfrm>
            <a:off x="960120"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URL: /pdi एवं /pdi/session/:vin</a:t>
            </a:r>
            <a:endParaRPr lang="en-US" sz="980" dirty="0"/>
          </a:p>
        </p:txBody>
      </p:sp>
      <p:sp>
        <p:nvSpPr>
          <p:cNvPr id="11" name="Text 9"/>
          <p:cNvSpPr/>
          <p:nvPr/>
        </p:nvSpPr>
        <p:spPr>
          <a:xfrm>
            <a:off x="960120"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अधिकृत यूजर: Certified PDI Quality Engineer</a:t>
            </a:r>
            <a:endParaRPr lang="en-US" sz="980" dirty="0"/>
          </a:p>
        </p:txBody>
      </p:sp>
      <p:sp>
        <p:nvSpPr>
          <p:cNvPr id="12" name="Text 10"/>
          <p:cNvSpPr/>
          <p:nvPr/>
        </p:nvSpPr>
        <p:spPr>
          <a:xfrm>
            <a:off x="960120"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उपकरण: मोबाइल / टैबलेट (कैमरा सपोर्टेड)</a:t>
            </a:r>
            <a:endParaRPr lang="en-US" sz="980" dirty="0"/>
          </a:p>
        </p:txBody>
      </p:sp>
      <p:sp>
        <p:nvSpPr>
          <p:cNvPr id="13" name="Shape 11"/>
          <p:cNvSpPr/>
          <p:nvPr/>
        </p:nvSpPr>
        <p:spPr>
          <a:xfrm>
            <a:off x="4370832" y="1463040"/>
            <a:ext cx="3429000" cy="4663440"/>
          </a:xfrm>
          <a:prstGeom prst="roundRect">
            <a:avLst>
              <a:gd name="adj" fmla="val 3200"/>
            </a:avLst>
          </a:prstGeom>
          <a:solidFill>
            <a:srgbClr val="FFFBEB"/>
          </a:solidFill>
          <a:ln w="15240">
            <a:solidFill>
              <a:srgbClr val="D97706"/>
            </a:solidFill>
            <a:prstDash val="solid"/>
          </a:ln>
        </p:spPr>
      </p:sp>
      <p:sp>
        <p:nvSpPr>
          <p:cNvPr id="14" name="Text 12"/>
          <p:cNvSpPr/>
          <p:nvPr/>
        </p:nvSpPr>
        <p:spPr>
          <a:xfrm>
            <a:off x="4599432" y="1691640"/>
            <a:ext cx="2971800" cy="411480"/>
          </a:xfrm>
          <a:prstGeom prst="rect">
            <a:avLst/>
          </a:prstGeom>
          <a:noFill/>
          <a:ln/>
        </p:spPr>
        <p:txBody>
          <a:bodyPr wrap="square" rtlCol="0" anchor="ctr"/>
          <a:lstStyle/>
          <a:p>
            <a:pPr indent="0" marL="0">
              <a:buNone/>
            </a:pPr>
            <a:r>
              <a:rPr lang="en-US" sz="1250" b="1" dirty="0">
                <a:solidFill>
                  <a:srgbClr val="D97706"/>
                </a:solidFill>
                <a:latin typeface="Segoe UI" pitchFamily="34" charset="0"/>
                <a:ea typeface="Segoe UI" pitchFamily="34" charset="-122"/>
                <a:cs typeface="Segoe UI" pitchFamily="34" charset="-120"/>
              </a:rPr>
              <a:t>2. कैसे करना होता है? (How To Do)</a:t>
            </a:r>
            <a:endParaRPr lang="en-US" sz="1250" dirty="0"/>
          </a:p>
        </p:txBody>
      </p:sp>
      <p:sp>
        <p:nvSpPr>
          <p:cNvPr id="15" name="Text 13"/>
          <p:cNvSpPr/>
          <p:nvPr/>
        </p:nvSpPr>
        <p:spPr>
          <a:xfrm>
            <a:off x="4599432"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1: क्यू से गाड़ी चुनें या VIN बारकोड स्कैन करके इंस्पेक्शन शुरू करें।</a:t>
            </a:r>
            <a:endParaRPr lang="en-US" sz="980" dirty="0"/>
          </a:p>
        </p:txBody>
      </p:sp>
      <p:sp>
        <p:nvSpPr>
          <p:cNvPr id="16" name="Text 14"/>
          <p:cNvSpPr/>
          <p:nvPr/>
        </p:nvSpPr>
        <p:spPr>
          <a:xfrm>
            <a:off x="4599432"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2: 7 मुख्य केटेगरी के सभी चेकपॉइंट्स जांचें (Exterior, Interior, Engine Bay, Underbody, Electricals, Road Test, Docs)।</a:t>
            </a:r>
            <a:endParaRPr lang="en-US" sz="980" dirty="0"/>
          </a:p>
        </p:txBody>
      </p:sp>
      <p:sp>
        <p:nvSpPr>
          <p:cNvPr id="17" name="Text 15"/>
          <p:cNvSpPr/>
          <p:nvPr/>
        </p:nvSpPr>
        <p:spPr>
          <a:xfrm>
            <a:off x="4599432"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3: हर पॉइंट पर OK या DEFECT टैग करें।</a:t>
            </a:r>
            <a:endParaRPr lang="en-US" sz="980" dirty="0"/>
          </a:p>
        </p:txBody>
      </p:sp>
      <p:sp>
        <p:nvSpPr>
          <p:cNvPr id="18" name="Text 16"/>
          <p:cNvSpPr/>
          <p:nvPr/>
        </p:nvSpPr>
        <p:spPr>
          <a:xfrm>
            <a:off x="4599432"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4: डिफ़ेक्ट होने पर कैमरा से लाइव फोटो अटैच करें और सेवेरिटी (Minor/Major) चुनें।</a:t>
            </a:r>
            <a:endParaRPr lang="en-US" sz="980" dirty="0"/>
          </a:p>
        </p:txBody>
      </p:sp>
      <p:sp>
        <p:nvSpPr>
          <p:cNvPr id="19" name="Text 17"/>
          <p:cNvSpPr/>
          <p:nvPr/>
        </p:nvSpPr>
        <p:spPr>
          <a:xfrm>
            <a:off x="4599432" y="5056632"/>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5: पूरा होने पर "Submit for QA Review" दबाएं।</a:t>
            </a:r>
            <a:endParaRPr lang="en-US" sz="980" dirty="0"/>
          </a:p>
        </p:txBody>
      </p:sp>
      <p:sp>
        <p:nvSpPr>
          <p:cNvPr id="20" name="Shape 18"/>
          <p:cNvSpPr/>
          <p:nvPr/>
        </p:nvSpPr>
        <p:spPr>
          <a:xfrm>
            <a:off x="8010144" y="1463040"/>
            <a:ext cx="3429000" cy="4663440"/>
          </a:xfrm>
          <a:prstGeom prst="roundRect">
            <a:avLst>
              <a:gd name="adj" fmla="val 3200"/>
            </a:avLst>
          </a:prstGeom>
          <a:solidFill>
            <a:srgbClr val="F0FDF4"/>
          </a:solidFill>
          <a:ln w="15240">
            <a:solidFill>
              <a:srgbClr val="16A34A"/>
            </a:solidFill>
            <a:prstDash val="solid"/>
          </a:ln>
        </p:spPr>
      </p:sp>
      <p:sp>
        <p:nvSpPr>
          <p:cNvPr id="21" name="Text 19"/>
          <p:cNvSpPr/>
          <p:nvPr/>
        </p:nvSpPr>
        <p:spPr>
          <a:xfrm>
            <a:off x="8238744" y="1691640"/>
            <a:ext cx="2971800" cy="411480"/>
          </a:xfrm>
          <a:prstGeom prst="rect">
            <a:avLst/>
          </a:prstGeom>
          <a:noFill/>
          <a:ln/>
        </p:spPr>
        <p:txBody>
          <a:bodyPr wrap="square" rtlCol="0" anchor="ctr"/>
          <a:lstStyle/>
          <a:p>
            <a:pPr indent="0" marL="0">
              <a:buNone/>
            </a:pPr>
            <a:r>
              <a:rPr lang="en-US" sz="1250" b="1" dirty="0">
                <a:solidFill>
                  <a:srgbClr val="16A34A"/>
                </a:solidFill>
                <a:latin typeface="Segoe UI" pitchFamily="34" charset="0"/>
                <a:ea typeface="Segoe UI" pitchFamily="34" charset="-122"/>
                <a:cs typeface="Segoe UI" pitchFamily="34" charset="-120"/>
              </a:rPr>
              <a:t>3. इसका क्या फायदा है? (Benefits)</a:t>
            </a:r>
            <a:endParaRPr lang="en-US" sz="1250" dirty="0"/>
          </a:p>
        </p:txBody>
      </p:sp>
      <p:sp>
        <p:nvSpPr>
          <p:cNvPr id="22" name="Text 20"/>
          <p:cNvSpPr/>
          <p:nvPr/>
        </p:nvSpPr>
        <p:spPr>
          <a:xfrm>
            <a:off x="8238744"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0% मानवीय चूक: बिना हर चेकपॉइंट को भरे PDI सबमिट नहीं हो सकती।</a:t>
            </a:r>
            <a:endParaRPr lang="en-US" sz="980" dirty="0"/>
          </a:p>
        </p:txBody>
      </p:sp>
      <p:sp>
        <p:nvSpPr>
          <p:cNvPr id="23" name="Text 21"/>
          <p:cNvSpPr/>
          <p:nvPr/>
        </p:nvSpPr>
        <p:spPr>
          <a:xfrm>
            <a:off x="8238744"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फोटो सबूत: हर स्क्रैच और फॉल्ट का डिजिटल रिकॉर्ड रहता है, जिससे बाद में कोई विवाद नहीं हो सकता।</a:t>
            </a:r>
            <a:endParaRPr lang="en-US" sz="980" dirty="0"/>
          </a:p>
        </p:txBody>
      </p:sp>
      <p:sp>
        <p:nvSpPr>
          <p:cNvPr id="24" name="Text 22"/>
          <p:cNvSpPr/>
          <p:nvPr/>
        </p:nvSpPr>
        <p:spPr>
          <a:xfrm>
            <a:off x="8238744"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तेज इंस्पेक्शन: पेपर फॉर्म भरने में 45 मिनट लगते थे, डिजिटल सिस्टम में केवल 15 मिनट लगते हैं।</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MODULE 04 • DEFECT REWORK</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मॉड्यूल 4: डिफ़ेक्ट ट्रैकिंग, वर्कशॉप रिपेयर एवं री-इंस्पेक्शन</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7</a:t>
            </a:r>
            <a:endParaRPr lang="en-US" sz="900" dirty="0"/>
          </a:p>
        </p:txBody>
      </p:sp>
      <p:sp>
        <p:nvSpPr>
          <p:cNvPr id="7" name="Shape 5"/>
          <p:cNvSpPr/>
          <p:nvPr/>
        </p:nvSpPr>
        <p:spPr>
          <a:xfrm>
            <a:off x="731520" y="1463040"/>
            <a:ext cx="3429000" cy="4663440"/>
          </a:xfrm>
          <a:prstGeom prst="roundRect">
            <a:avLst>
              <a:gd name="adj" fmla="val 3200"/>
            </a:avLst>
          </a:prstGeom>
          <a:solidFill>
            <a:srgbClr val="EFF6FF"/>
          </a:solidFill>
          <a:ln w="15240">
            <a:solidFill>
              <a:srgbClr val="2563EB"/>
            </a:solidFill>
            <a:prstDash val="solid"/>
          </a:ln>
        </p:spPr>
      </p:sp>
      <p:sp>
        <p:nvSpPr>
          <p:cNvPr id="8" name="Text 6"/>
          <p:cNvSpPr/>
          <p:nvPr/>
        </p:nvSpPr>
        <p:spPr>
          <a:xfrm>
            <a:off x="960120" y="1691640"/>
            <a:ext cx="2971800" cy="411480"/>
          </a:xfrm>
          <a:prstGeom prst="rect">
            <a:avLst/>
          </a:prstGeom>
          <a:noFill/>
          <a:ln/>
        </p:spPr>
        <p:txBody>
          <a:bodyPr wrap="square" rtlCol="0" anchor="ctr"/>
          <a:lstStyle/>
          <a:p>
            <a:pPr indent="0" marL="0">
              <a:buNone/>
            </a:pPr>
            <a:r>
              <a:rPr lang="en-US" sz="1250" b="1" dirty="0">
                <a:solidFill>
                  <a:srgbClr val="2563EB"/>
                </a:solidFill>
                <a:latin typeface="Segoe UI" pitchFamily="34" charset="0"/>
                <a:ea typeface="Segoe UI" pitchFamily="34" charset="-122"/>
                <a:cs typeface="Segoe UI" pitchFamily="34" charset="-120"/>
              </a:rPr>
              <a:t>1. कहाँ करना होता है? (Where)</a:t>
            </a:r>
            <a:endParaRPr lang="en-US" sz="1250" dirty="0"/>
          </a:p>
        </p:txBody>
      </p:sp>
      <p:sp>
        <p:nvSpPr>
          <p:cNvPr id="9" name="Text 7"/>
          <p:cNvSpPr/>
          <p:nvPr/>
        </p:nvSpPr>
        <p:spPr>
          <a:xfrm>
            <a:off x="960120"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स्क्रीन: Defect Management &amp; Workshop Repairs</a:t>
            </a:r>
            <a:endParaRPr lang="en-US" sz="980" dirty="0"/>
          </a:p>
        </p:txBody>
      </p:sp>
      <p:sp>
        <p:nvSpPr>
          <p:cNvPr id="10" name="Text 8"/>
          <p:cNvSpPr/>
          <p:nvPr/>
        </p:nvSpPr>
        <p:spPr>
          <a:xfrm>
            <a:off x="960120"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URL: /repairs</a:t>
            </a:r>
            <a:endParaRPr lang="en-US" sz="980" dirty="0"/>
          </a:p>
        </p:txBody>
      </p:sp>
      <p:sp>
        <p:nvSpPr>
          <p:cNvPr id="11" name="Text 9"/>
          <p:cNvSpPr/>
          <p:nvPr/>
        </p:nvSpPr>
        <p:spPr>
          <a:xfrm>
            <a:off x="960120"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अधिकृत यूजर: Workshop Manager, Bodyshop Supervisor, Technician</a:t>
            </a:r>
            <a:endParaRPr lang="en-US" sz="980" dirty="0"/>
          </a:p>
        </p:txBody>
      </p:sp>
      <p:sp>
        <p:nvSpPr>
          <p:cNvPr id="12" name="Text 10"/>
          <p:cNvSpPr/>
          <p:nvPr/>
        </p:nvSpPr>
        <p:spPr>
          <a:xfrm>
            <a:off x="960120"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व्यू: कानबान बोर्ड (Pending &gt; In Progress &gt; Resolved)</a:t>
            </a:r>
            <a:endParaRPr lang="en-US" sz="980" dirty="0"/>
          </a:p>
        </p:txBody>
      </p:sp>
      <p:sp>
        <p:nvSpPr>
          <p:cNvPr id="13" name="Shape 11"/>
          <p:cNvSpPr/>
          <p:nvPr/>
        </p:nvSpPr>
        <p:spPr>
          <a:xfrm>
            <a:off x="4370832" y="1463040"/>
            <a:ext cx="3429000" cy="4663440"/>
          </a:xfrm>
          <a:prstGeom prst="roundRect">
            <a:avLst>
              <a:gd name="adj" fmla="val 3200"/>
            </a:avLst>
          </a:prstGeom>
          <a:solidFill>
            <a:srgbClr val="FFFBEB"/>
          </a:solidFill>
          <a:ln w="15240">
            <a:solidFill>
              <a:srgbClr val="D97706"/>
            </a:solidFill>
            <a:prstDash val="solid"/>
          </a:ln>
        </p:spPr>
      </p:sp>
      <p:sp>
        <p:nvSpPr>
          <p:cNvPr id="14" name="Text 12"/>
          <p:cNvSpPr/>
          <p:nvPr/>
        </p:nvSpPr>
        <p:spPr>
          <a:xfrm>
            <a:off x="4599432" y="1691640"/>
            <a:ext cx="2971800" cy="411480"/>
          </a:xfrm>
          <a:prstGeom prst="rect">
            <a:avLst/>
          </a:prstGeom>
          <a:noFill/>
          <a:ln/>
        </p:spPr>
        <p:txBody>
          <a:bodyPr wrap="square" rtlCol="0" anchor="ctr"/>
          <a:lstStyle/>
          <a:p>
            <a:pPr indent="0" marL="0">
              <a:buNone/>
            </a:pPr>
            <a:r>
              <a:rPr lang="en-US" sz="1250" b="1" dirty="0">
                <a:solidFill>
                  <a:srgbClr val="D97706"/>
                </a:solidFill>
                <a:latin typeface="Segoe UI" pitchFamily="34" charset="0"/>
                <a:ea typeface="Segoe UI" pitchFamily="34" charset="-122"/>
                <a:cs typeface="Segoe UI" pitchFamily="34" charset="-120"/>
              </a:rPr>
              <a:t>2. कैसे करना होता है? (How To Do)</a:t>
            </a:r>
            <a:endParaRPr lang="en-US" sz="1250" dirty="0"/>
          </a:p>
        </p:txBody>
      </p:sp>
      <p:sp>
        <p:nvSpPr>
          <p:cNvPr id="15" name="Text 13"/>
          <p:cNvSpPr/>
          <p:nvPr/>
        </p:nvSpPr>
        <p:spPr>
          <a:xfrm>
            <a:off x="4599432"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1: PDI में फ्लैग हुआ डिफ़ेक्ट अपने आप रिपेयर बोर्ड पर आ जाता है।</a:t>
            </a:r>
            <a:endParaRPr lang="en-US" sz="980" dirty="0"/>
          </a:p>
        </p:txBody>
      </p:sp>
      <p:sp>
        <p:nvSpPr>
          <p:cNvPr id="16" name="Text 14"/>
          <p:cNvSpPr/>
          <p:nvPr/>
        </p:nvSpPr>
        <p:spPr>
          <a:xfrm>
            <a:off x="4599432"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2: वर्कशॉप मैनेजर डेंटर या मैकेनिक को असाइन करता है।</a:t>
            </a:r>
            <a:endParaRPr lang="en-US" sz="980" dirty="0"/>
          </a:p>
        </p:txBody>
      </p:sp>
      <p:sp>
        <p:nvSpPr>
          <p:cNvPr id="17" name="Text 15"/>
          <p:cNvSpPr/>
          <p:nvPr/>
        </p:nvSpPr>
        <p:spPr>
          <a:xfrm>
            <a:off x="4599432"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3: पार्ट रिप्लेसमेंट की आवश्यकता होने पर स्पेयर पार्ट्स रिक्वेस्ट जनरेट होती है।</a:t>
            </a:r>
            <a:endParaRPr lang="en-US" sz="980" dirty="0"/>
          </a:p>
        </p:txBody>
      </p:sp>
      <p:sp>
        <p:nvSpPr>
          <p:cNvPr id="18" name="Text 16"/>
          <p:cNvSpPr/>
          <p:nvPr/>
        </p:nvSpPr>
        <p:spPr>
          <a:xfrm>
            <a:off x="4599432"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4: काम पूरा होने पर "After-Repair Photo" अपलोड की जाती है।</a:t>
            </a:r>
            <a:endParaRPr lang="en-US" sz="980" dirty="0"/>
          </a:p>
        </p:txBody>
      </p:sp>
      <p:sp>
        <p:nvSpPr>
          <p:cNvPr id="19" name="Text 17"/>
          <p:cNvSpPr/>
          <p:nvPr/>
        </p:nvSpPr>
        <p:spPr>
          <a:xfrm>
            <a:off x="4599432" y="5056632"/>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5: "Send for QA Clearance" पर क्लिक किया जाता है।</a:t>
            </a:r>
            <a:endParaRPr lang="en-US" sz="980" dirty="0"/>
          </a:p>
        </p:txBody>
      </p:sp>
      <p:sp>
        <p:nvSpPr>
          <p:cNvPr id="20" name="Shape 18"/>
          <p:cNvSpPr/>
          <p:nvPr/>
        </p:nvSpPr>
        <p:spPr>
          <a:xfrm>
            <a:off x="8010144" y="1463040"/>
            <a:ext cx="3429000" cy="4663440"/>
          </a:xfrm>
          <a:prstGeom prst="roundRect">
            <a:avLst>
              <a:gd name="adj" fmla="val 3200"/>
            </a:avLst>
          </a:prstGeom>
          <a:solidFill>
            <a:srgbClr val="F0FDF4"/>
          </a:solidFill>
          <a:ln w="15240">
            <a:solidFill>
              <a:srgbClr val="16A34A"/>
            </a:solidFill>
            <a:prstDash val="solid"/>
          </a:ln>
        </p:spPr>
      </p:sp>
      <p:sp>
        <p:nvSpPr>
          <p:cNvPr id="21" name="Text 19"/>
          <p:cNvSpPr/>
          <p:nvPr/>
        </p:nvSpPr>
        <p:spPr>
          <a:xfrm>
            <a:off x="8238744" y="1691640"/>
            <a:ext cx="2971800" cy="411480"/>
          </a:xfrm>
          <a:prstGeom prst="rect">
            <a:avLst/>
          </a:prstGeom>
          <a:noFill/>
          <a:ln/>
        </p:spPr>
        <p:txBody>
          <a:bodyPr wrap="square" rtlCol="0" anchor="ctr"/>
          <a:lstStyle/>
          <a:p>
            <a:pPr indent="0" marL="0">
              <a:buNone/>
            </a:pPr>
            <a:r>
              <a:rPr lang="en-US" sz="1250" b="1" dirty="0">
                <a:solidFill>
                  <a:srgbClr val="16A34A"/>
                </a:solidFill>
                <a:latin typeface="Segoe UI" pitchFamily="34" charset="0"/>
                <a:ea typeface="Segoe UI" pitchFamily="34" charset="-122"/>
                <a:cs typeface="Segoe UI" pitchFamily="34" charset="-120"/>
              </a:rPr>
              <a:t>3. इसका क्या फायदा है? (Benefits)</a:t>
            </a:r>
            <a:endParaRPr lang="en-US" sz="1250" dirty="0"/>
          </a:p>
        </p:txBody>
      </p:sp>
      <p:sp>
        <p:nvSpPr>
          <p:cNvPr id="22" name="Text 20"/>
          <p:cNvSpPr/>
          <p:nvPr/>
        </p:nvSpPr>
        <p:spPr>
          <a:xfrm>
            <a:off x="8238744"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कस्टमर डिससेटिस्फैक्शन शून्य: कोई भी डिफेक्टिव गाड़ी बिना रिपेयर हुए कभी भी डिलीवरी बे (Delivery Bay) तक नहीं जा सकती।</a:t>
            </a:r>
            <a:endParaRPr lang="en-US" sz="980" dirty="0"/>
          </a:p>
        </p:txBody>
      </p:sp>
      <p:sp>
        <p:nvSpPr>
          <p:cNvPr id="23" name="Text 21"/>
          <p:cNvSpPr/>
          <p:nvPr/>
        </p:nvSpPr>
        <p:spPr>
          <a:xfrm>
            <a:off x="8238744"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वर्कशॉप जवाबदेही: किस टेक्नीशियन ने क्या काम किया, कितना समय लगा—सब ट्रैक होता है।</a:t>
            </a:r>
            <a:endParaRPr lang="en-US" sz="980" dirty="0"/>
          </a:p>
        </p:txBody>
      </p:sp>
      <p:sp>
        <p:nvSpPr>
          <p:cNvPr id="24" name="Text 22"/>
          <p:cNvSpPr/>
          <p:nvPr/>
        </p:nvSpPr>
        <p:spPr>
          <a:xfrm>
            <a:off x="8238744"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वारंटी क्लेम: OEM डिफ़ेक्ट्स को अलग मार्क करके फ़ैक्टरी से वारंटी लेबर क्लेम किया जा सकता है।</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MODULE 05 • QA &amp; CERTIFICATE</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मॉड्यूल 5: QA मैनेजर क्लीयरेंस एवं डिजिटल QR सर्टिफ़िकेट</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8</a:t>
            </a:r>
            <a:endParaRPr lang="en-US" sz="900" dirty="0"/>
          </a:p>
        </p:txBody>
      </p:sp>
      <p:sp>
        <p:nvSpPr>
          <p:cNvPr id="7" name="Shape 5"/>
          <p:cNvSpPr/>
          <p:nvPr/>
        </p:nvSpPr>
        <p:spPr>
          <a:xfrm>
            <a:off x="731520" y="1463040"/>
            <a:ext cx="3429000" cy="4663440"/>
          </a:xfrm>
          <a:prstGeom prst="roundRect">
            <a:avLst>
              <a:gd name="adj" fmla="val 3200"/>
            </a:avLst>
          </a:prstGeom>
          <a:solidFill>
            <a:srgbClr val="EFF6FF"/>
          </a:solidFill>
          <a:ln w="15240">
            <a:solidFill>
              <a:srgbClr val="2563EB"/>
            </a:solidFill>
            <a:prstDash val="solid"/>
          </a:ln>
        </p:spPr>
      </p:sp>
      <p:sp>
        <p:nvSpPr>
          <p:cNvPr id="8" name="Text 6"/>
          <p:cNvSpPr/>
          <p:nvPr/>
        </p:nvSpPr>
        <p:spPr>
          <a:xfrm>
            <a:off x="960120" y="1691640"/>
            <a:ext cx="2971800" cy="411480"/>
          </a:xfrm>
          <a:prstGeom prst="rect">
            <a:avLst/>
          </a:prstGeom>
          <a:noFill/>
          <a:ln/>
        </p:spPr>
        <p:txBody>
          <a:bodyPr wrap="square" rtlCol="0" anchor="ctr"/>
          <a:lstStyle/>
          <a:p>
            <a:pPr indent="0" marL="0">
              <a:buNone/>
            </a:pPr>
            <a:r>
              <a:rPr lang="en-US" sz="1250" b="1" dirty="0">
                <a:solidFill>
                  <a:srgbClr val="2563EB"/>
                </a:solidFill>
                <a:latin typeface="Segoe UI" pitchFamily="34" charset="0"/>
                <a:ea typeface="Segoe UI" pitchFamily="34" charset="-122"/>
                <a:cs typeface="Segoe UI" pitchFamily="34" charset="-120"/>
              </a:rPr>
              <a:t>1. कहाँ करना होता है? (Where)</a:t>
            </a:r>
            <a:endParaRPr lang="en-US" sz="1250" dirty="0"/>
          </a:p>
        </p:txBody>
      </p:sp>
      <p:sp>
        <p:nvSpPr>
          <p:cNvPr id="9" name="Text 7"/>
          <p:cNvSpPr/>
          <p:nvPr/>
        </p:nvSpPr>
        <p:spPr>
          <a:xfrm>
            <a:off x="960120"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स्क्रीन: QA Clearance Queue &amp; Certificate Viewer</a:t>
            </a:r>
            <a:endParaRPr lang="en-US" sz="980" dirty="0"/>
          </a:p>
        </p:txBody>
      </p:sp>
      <p:sp>
        <p:nvSpPr>
          <p:cNvPr id="10" name="Text 8"/>
          <p:cNvSpPr/>
          <p:nvPr/>
        </p:nvSpPr>
        <p:spPr>
          <a:xfrm>
            <a:off x="960120"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URL: /qa एवं /certificate/:vin</a:t>
            </a:r>
            <a:endParaRPr lang="en-US" sz="980" dirty="0"/>
          </a:p>
        </p:txBody>
      </p:sp>
      <p:sp>
        <p:nvSpPr>
          <p:cNvPr id="11" name="Text 9"/>
          <p:cNvSpPr/>
          <p:nvPr/>
        </p:nvSpPr>
        <p:spPr>
          <a:xfrm>
            <a:off x="960120"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अधिकृत यूजर: Quality Assurance (QA) Manager केवल</a:t>
            </a:r>
            <a:endParaRPr lang="en-US" sz="980" dirty="0"/>
          </a:p>
        </p:txBody>
      </p:sp>
      <p:sp>
        <p:nvSpPr>
          <p:cNvPr id="12" name="Text 10"/>
          <p:cNvSpPr/>
          <p:nvPr/>
        </p:nvSpPr>
        <p:spPr>
          <a:xfrm>
            <a:off x="960120"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अधिकार: फाइनल डिलीवरी क्लीयरेंस अप्रूवल</a:t>
            </a:r>
            <a:endParaRPr lang="en-US" sz="980" dirty="0"/>
          </a:p>
        </p:txBody>
      </p:sp>
      <p:sp>
        <p:nvSpPr>
          <p:cNvPr id="13" name="Shape 11"/>
          <p:cNvSpPr/>
          <p:nvPr/>
        </p:nvSpPr>
        <p:spPr>
          <a:xfrm>
            <a:off x="4370832" y="1463040"/>
            <a:ext cx="3429000" cy="4663440"/>
          </a:xfrm>
          <a:prstGeom prst="roundRect">
            <a:avLst>
              <a:gd name="adj" fmla="val 3200"/>
            </a:avLst>
          </a:prstGeom>
          <a:solidFill>
            <a:srgbClr val="FFFBEB"/>
          </a:solidFill>
          <a:ln w="15240">
            <a:solidFill>
              <a:srgbClr val="D97706"/>
            </a:solidFill>
            <a:prstDash val="solid"/>
          </a:ln>
        </p:spPr>
      </p:sp>
      <p:sp>
        <p:nvSpPr>
          <p:cNvPr id="14" name="Text 12"/>
          <p:cNvSpPr/>
          <p:nvPr/>
        </p:nvSpPr>
        <p:spPr>
          <a:xfrm>
            <a:off x="4599432" y="1691640"/>
            <a:ext cx="2971800" cy="411480"/>
          </a:xfrm>
          <a:prstGeom prst="rect">
            <a:avLst/>
          </a:prstGeom>
          <a:noFill/>
          <a:ln/>
        </p:spPr>
        <p:txBody>
          <a:bodyPr wrap="square" rtlCol="0" anchor="ctr"/>
          <a:lstStyle/>
          <a:p>
            <a:pPr indent="0" marL="0">
              <a:buNone/>
            </a:pPr>
            <a:r>
              <a:rPr lang="en-US" sz="1250" b="1" dirty="0">
                <a:solidFill>
                  <a:srgbClr val="D97706"/>
                </a:solidFill>
                <a:latin typeface="Segoe UI" pitchFamily="34" charset="0"/>
                <a:ea typeface="Segoe UI" pitchFamily="34" charset="-122"/>
                <a:cs typeface="Segoe UI" pitchFamily="34" charset="-120"/>
              </a:rPr>
              <a:t>2. कैसे करना होता है? (How To Do)</a:t>
            </a:r>
            <a:endParaRPr lang="en-US" sz="1250" dirty="0"/>
          </a:p>
        </p:txBody>
      </p:sp>
      <p:sp>
        <p:nvSpPr>
          <p:cNvPr id="15" name="Text 13"/>
          <p:cNvSpPr/>
          <p:nvPr/>
        </p:nvSpPr>
        <p:spPr>
          <a:xfrm>
            <a:off x="4599432"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1: QA मैनेजर PDI चेकलिस्ट, फोटो और रिपेयर हिस्ट्री का रिव्यू करता है।</a:t>
            </a:r>
            <a:endParaRPr lang="en-US" sz="980" dirty="0"/>
          </a:p>
        </p:txBody>
      </p:sp>
      <p:sp>
        <p:nvSpPr>
          <p:cNvPr id="16" name="Text 14"/>
          <p:cNvSpPr/>
          <p:nvPr/>
        </p:nvSpPr>
        <p:spPr>
          <a:xfrm>
            <a:off x="4599432"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2: संतुष्ट होने पर अपना डिजिटल पिन/सिग्नेचर डालकर "APPROVE PDI" दबाता है।</a:t>
            </a:r>
            <a:endParaRPr lang="en-US" sz="980" dirty="0"/>
          </a:p>
        </p:txBody>
      </p:sp>
      <p:sp>
        <p:nvSpPr>
          <p:cNvPr id="17" name="Text 15"/>
          <p:cNvSpPr/>
          <p:nvPr/>
        </p:nvSpPr>
        <p:spPr>
          <a:xfrm>
            <a:off x="4599432"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3: सिस्टम तुरंत आधिकारिक PDI Certificate जारी करता है।</a:t>
            </a:r>
            <a:endParaRPr lang="en-US" sz="980" dirty="0"/>
          </a:p>
        </p:txBody>
      </p:sp>
      <p:sp>
        <p:nvSpPr>
          <p:cNvPr id="18" name="Text 16"/>
          <p:cNvSpPr/>
          <p:nvPr/>
        </p:nvSpPr>
        <p:spPr>
          <a:xfrm>
            <a:off x="4599432"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4: सर्टिफ़िकेट में यूनिक QR कोड, बारकोड, और संपूर्ण इंस्पेक्शन स्कोर ऑटोमैटिक प्रिंट होता है।</a:t>
            </a:r>
            <a:endParaRPr lang="en-US" sz="980" dirty="0"/>
          </a:p>
        </p:txBody>
      </p:sp>
      <p:sp>
        <p:nvSpPr>
          <p:cNvPr id="19" name="Shape 17"/>
          <p:cNvSpPr/>
          <p:nvPr/>
        </p:nvSpPr>
        <p:spPr>
          <a:xfrm>
            <a:off x="8010144" y="1463040"/>
            <a:ext cx="3429000" cy="4663440"/>
          </a:xfrm>
          <a:prstGeom prst="roundRect">
            <a:avLst>
              <a:gd name="adj" fmla="val 3200"/>
            </a:avLst>
          </a:prstGeom>
          <a:solidFill>
            <a:srgbClr val="F0FDF4"/>
          </a:solidFill>
          <a:ln w="15240">
            <a:solidFill>
              <a:srgbClr val="16A34A"/>
            </a:solidFill>
            <a:prstDash val="solid"/>
          </a:ln>
        </p:spPr>
      </p:sp>
      <p:sp>
        <p:nvSpPr>
          <p:cNvPr id="20" name="Text 18"/>
          <p:cNvSpPr/>
          <p:nvPr/>
        </p:nvSpPr>
        <p:spPr>
          <a:xfrm>
            <a:off x="8238744" y="1691640"/>
            <a:ext cx="2971800" cy="411480"/>
          </a:xfrm>
          <a:prstGeom prst="rect">
            <a:avLst/>
          </a:prstGeom>
          <a:noFill/>
          <a:ln/>
        </p:spPr>
        <p:txBody>
          <a:bodyPr wrap="square" rtlCol="0" anchor="ctr"/>
          <a:lstStyle/>
          <a:p>
            <a:pPr indent="0" marL="0">
              <a:buNone/>
            </a:pPr>
            <a:r>
              <a:rPr lang="en-US" sz="1250" b="1" dirty="0">
                <a:solidFill>
                  <a:srgbClr val="16A34A"/>
                </a:solidFill>
                <a:latin typeface="Segoe UI" pitchFamily="34" charset="0"/>
                <a:ea typeface="Segoe UI" pitchFamily="34" charset="-122"/>
                <a:cs typeface="Segoe UI" pitchFamily="34" charset="-120"/>
              </a:rPr>
              <a:t>3. इसका क्या फायदा है? (Benefits)</a:t>
            </a:r>
            <a:endParaRPr lang="en-US" sz="1250" dirty="0"/>
          </a:p>
        </p:txBody>
      </p:sp>
      <p:sp>
        <p:nvSpPr>
          <p:cNvPr id="21" name="Text 19"/>
          <p:cNvSpPr/>
          <p:nvPr/>
        </p:nvSpPr>
        <p:spPr>
          <a:xfrm>
            <a:off x="8238744"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ग्राहक का अटूट विश्वास: डिलीवरी के समय ग्राहक को डिजिटल PDI सर्टिफिकेट दिया जाता है, जिसे मोबाइल से स्कैन करके पूरी रिपोर्ट देखी जा सकती है।</a:t>
            </a:r>
            <a:endParaRPr lang="en-US" sz="980" dirty="0"/>
          </a:p>
        </p:txBody>
      </p:sp>
      <p:sp>
        <p:nvSpPr>
          <p:cNvPr id="22" name="Text 20"/>
          <p:cNvSpPr/>
          <p:nvPr/>
        </p:nvSpPr>
        <p:spPr>
          <a:xfrm>
            <a:off x="8238744"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ऑडिट रेडी: OEM ऑडिट्स (Tata Motors / Hyundai) में 100% फुल मार्क्स।</a:t>
            </a:r>
            <a:endParaRPr lang="en-US" sz="980" dirty="0"/>
          </a:p>
        </p:txBody>
      </p:sp>
      <p:sp>
        <p:nvSpPr>
          <p:cNvPr id="23" name="Text 21"/>
          <p:cNvSpPr/>
          <p:nvPr/>
        </p:nvSpPr>
        <p:spPr>
          <a:xfrm>
            <a:off x="8238744"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लीगल प्रोटेक्शन: डिलीवरी के बाद अगर ग्राहक किसी पुराने स्क्रैच का दावा करे तो टाइमस्टैम्प फोटो प्रमाण के रूप में काम आती है।</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MODULE 06 • BOOKINGS &amp; ALLOTMENT</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मॉड्यूल 6: कस्टमर बुकिंग लेज़र एवं स्मार्ट VIN अलॉटमेंट (PBNA)</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9</a:t>
            </a:r>
            <a:endParaRPr lang="en-US" sz="900" dirty="0"/>
          </a:p>
        </p:txBody>
      </p:sp>
      <p:sp>
        <p:nvSpPr>
          <p:cNvPr id="7" name="Shape 5"/>
          <p:cNvSpPr/>
          <p:nvPr/>
        </p:nvSpPr>
        <p:spPr>
          <a:xfrm>
            <a:off x="731520" y="1463040"/>
            <a:ext cx="3429000" cy="4663440"/>
          </a:xfrm>
          <a:prstGeom prst="roundRect">
            <a:avLst>
              <a:gd name="adj" fmla="val 3200"/>
            </a:avLst>
          </a:prstGeom>
          <a:solidFill>
            <a:srgbClr val="EFF6FF"/>
          </a:solidFill>
          <a:ln w="15240">
            <a:solidFill>
              <a:srgbClr val="2563EB"/>
            </a:solidFill>
            <a:prstDash val="solid"/>
          </a:ln>
        </p:spPr>
      </p:sp>
      <p:sp>
        <p:nvSpPr>
          <p:cNvPr id="8" name="Text 6"/>
          <p:cNvSpPr/>
          <p:nvPr/>
        </p:nvSpPr>
        <p:spPr>
          <a:xfrm>
            <a:off x="960120" y="1691640"/>
            <a:ext cx="2971800" cy="411480"/>
          </a:xfrm>
          <a:prstGeom prst="rect">
            <a:avLst/>
          </a:prstGeom>
          <a:noFill/>
          <a:ln/>
        </p:spPr>
        <p:txBody>
          <a:bodyPr wrap="square" rtlCol="0" anchor="ctr"/>
          <a:lstStyle/>
          <a:p>
            <a:pPr indent="0" marL="0">
              <a:buNone/>
            </a:pPr>
            <a:r>
              <a:rPr lang="en-US" sz="1250" b="1" dirty="0">
                <a:solidFill>
                  <a:srgbClr val="2563EB"/>
                </a:solidFill>
                <a:latin typeface="Segoe UI" pitchFamily="34" charset="0"/>
                <a:ea typeface="Segoe UI" pitchFamily="34" charset="-122"/>
                <a:cs typeface="Segoe UI" pitchFamily="34" charset="-120"/>
              </a:rPr>
              <a:t>1. कहाँ करना होता है? (Where)</a:t>
            </a:r>
            <a:endParaRPr lang="en-US" sz="1250" dirty="0"/>
          </a:p>
        </p:txBody>
      </p:sp>
      <p:sp>
        <p:nvSpPr>
          <p:cNvPr id="9" name="Text 7"/>
          <p:cNvSpPr/>
          <p:nvPr/>
        </p:nvSpPr>
        <p:spPr>
          <a:xfrm>
            <a:off x="960120"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स्क्रीन: Customer Bookings Management</a:t>
            </a:r>
            <a:endParaRPr lang="en-US" sz="980" dirty="0"/>
          </a:p>
        </p:txBody>
      </p:sp>
      <p:sp>
        <p:nvSpPr>
          <p:cNvPr id="10" name="Text 8"/>
          <p:cNvSpPr/>
          <p:nvPr/>
        </p:nvSpPr>
        <p:spPr>
          <a:xfrm>
            <a:off x="960120"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URL: /bookings</a:t>
            </a:r>
            <a:endParaRPr lang="en-US" sz="980" dirty="0"/>
          </a:p>
        </p:txBody>
      </p:sp>
      <p:sp>
        <p:nvSpPr>
          <p:cNvPr id="11" name="Text 9"/>
          <p:cNvSpPr/>
          <p:nvPr/>
        </p:nvSpPr>
        <p:spPr>
          <a:xfrm>
            <a:off x="960120"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अधिकृत यूजर: Sales Consultant, Team Leader, Sales Manager</a:t>
            </a:r>
            <a:endParaRPr lang="en-US" sz="980" dirty="0"/>
          </a:p>
        </p:txBody>
      </p:sp>
      <p:sp>
        <p:nvSpPr>
          <p:cNvPr id="12" name="Text 10"/>
          <p:cNvSpPr/>
          <p:nvPr/>
        </p:nvSpPr>
        <p:spPr>
          <a:xfrm>
            <a:off x="960120"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फीचर: 13-कॉलम लाइव बुकिंग लेज़र + PBNA/VNA रिपोर्ट</a:t>
            </a:r>
            <a:endParaRPr lang="en-US" sz="980" dirty="0"/>
          </a:p>
        </p:txBody>
      </p:sp>
      <p:sp>
        <p:nvSpPr>
          <p:cNvPr id="13" name="Shape 11"/>
          <p:cNvSpPr/>
          <p:nvPr/>
        </p:nvSpPr>
        <p:spPr>
          <a:xfrm>
            <a:off x="4370832" y="1463040"/>
            <a:ext cx="3429000" cy="4663440"/>
          </a:xfrm>
          <a:prstGeom prst="roundRect">
            <a:avLst>
              <a:gd name="adj" fmla="val 3200"/>
            </a:avLst>
          </a:prstGeom>
          <a:solidFill>
            <a:srgbClr val="FFFBEB"/>
          </a:solidFill>
          <a:ln w="15240">
            <a:solidFill>
              <a:srgbClr val="D97706"/>
            </a:solidFill>
            <a:prstDash val="solid"/>
          </a:ln>
        </p:spPr>
      </p:sp>
      <p:sp>
        <p:nvSpPr>
          <p:cNvPr id="14" name="Text 12"/>
          <p:cNvSpPr/>
          <p:nvPr/>
        </p:nvSpPr>
        <p:spPr>
          <a:xfrm>
            <a:off x="4599432" y="1691640"/>
            <a:ext cx="2971800" cy="411480"/>
          </a:xfrm>
          <a:prstGeom prst="rect">
            <a:avLst/>
          </a:prstGeom>
          <a:noFill/>
          <a:ln/>
        </p:spPr>
        <p:txBody>
          <a:bodyPr wrap="square" rtlCol="0" anchor="ctr"/>
          <a:lstStyle/>
          <a:p>
            <a:pPr indent="0" marL="0">
              <a:buNone/>
            </a:pPr>
            <a:r>
              <a:rPr lang="en-US" sz="1250" b="1" dirty="0">
                <a:solidFill>
                  <a:srgbClr val="D97706"/>
                </a:solidFill>
                <a:latin typeface="Segoe UI" pitchFamily="34" charset="0"/>
                <a:ea typeface="Segoe UI" pitchFamily="34" charset="-122"/>
                <a:cs typeface="Segoe UI" pitchFamily="34" charset="-120"/>
              </a:rPr>
              <a:t>2. कैसे करना होता है? (How To Do)</a:t>
            </a:r>
            <a:endParaRPr lang="en-US" sz="1250" dirty="0"/>
          </a:p>
        </p:txBody>
      </p:sp>
      <p:sp>
        <p:nvSpPr>
          <p:cNvPr id="15" name="Text 13"/>
          <p:cNvSpPr/>
          <p:nvPr/>
        </p:nvSpPr>
        <p:spPr>
          <a:xfrm>
            <a:off x="4599432"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बुकिंग एंट्री / इम्पोर्ट: रसीद संख्या, ग्राहक नाम, मोबाइल, मॉडल, रंग, और एडवांस राशि दर्ज करें या एक्सेल से अपलोड करें।</a:t>
            </a:r>
            <a:endParaRPr lang="en-US" sz="980" dirty="0"/>
          </a:p>
        </p:txBody>
      </p:sp>
      <p:sp>
        <p:nvSpPr>
          <p:cNvPr id="16" name="Text 14"/>
          <p:cNvSpPr/>
          <p:nvPr/>
        </p:nvSpPr>
        <p:spPr>
          <a:xfrm>
            <a:off x="4599432"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स्मार्ट मैचिंग: सिस्टम दिखाता है: PBNA (गाड़ी स्टॉक में मौजूद है) या VNA (गाड़ी स्टॉक में नहीं है, फ़ैक्टरी ऑर्डर चाहिए)।</a:t>
            </a:r>
            <a:endParaRPr lang="en-US" sz="980" dirty="0"/>
          </a:p>
        </p:txBody>
      </p:sp>
      <p:sp>
        <p:nvSpPr>
          <p:cNvPr id="17" name="Text 15"/>
          <p:cNvSpPr/>
          <p:nvPr/>
        </p:nvSpPr>
        <p:spPr>
          <a:xfrm>
            <a:off x="4599432"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VIN Allocation: "Allocate VIN" बटन दबाएं और स्टॉक की मैचिंग गाड़ी 1-क्लिक में असाइन करें।</a:t>
            </a:r>
            <a:endParaRPr lang="en-US" sz="980" dirty="0"/>
          </a:p>
        </p:txBody>
      </p:sp>
      <p:sp>
        <p:nvSpPr>
          <p:cNvPr id="18" name="Text 16"/>
          <p:cNvSpPr/>
          <p:nvPr/>
        </p:nvSpPr>
        <p:spPr>
          <a:xfrm>
            <a:off x="4599432"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डिलीट / रीसेट: रसीद डिलीट (Trash) करें या मल्टी-सेलेक्ट करके हटाएं। अलॉटेड गाड़ी अपने आप Free Stock में वापस आ जाती है।</a:t>
            </a:r>
            <a:endParaRPr lang="en-US" sz="980" dirty="0"/>
          </a:p>
        </p:txBody>
      </p:sp>
      <p:sp>
        <p:nvSpPr>
          <p:cNvPr id="19" name="Shape 17"/>
          <p:cNvSpPr/>
          <p:nvPr/>
        </p:nvSpPr>
        <p:spPr>
          <a:xfrm>
            <a:off x="8010144" y="1463040"/>
            <a:ext cx="3429000" cy="4663440"/>
          </a:xfrm>
          <a:prstGeom prst="roundRect">
            <a:avLst>
              <a:gd name="adj" fmla="val 3200"/>
            </a:avLst>
          </a:prstGeom>
          <a:solidFill>
            <a:srgbClr val="F0FDF4"/>
          </a:solidFill>
          <a:ln w="15240">
            <a:solidFill>
              <a:srgbClr val="16A34A"/>
            </a:solidFill>
            <a:prstDash val="solid"/>
          </a:ln>
        </p:spPr>
      </p:sp>
      <p:sp>
        <p:nvSpPr>
          <p:cNvPr id="20" name="Text 18"/>
          <p:cNvSpPr/>
          <p:nvPr/>
        </p:nvSpPr>
        <p:spPr>
          <a:xfrm>
            <a:off x="8238744" y="1691640"/>
            <a:ext cx="2971800" cy="411480"/>
          </a:xfrm>
          <a:prstGeom prst="rect">
            <a:avLst/>
          </a:prstGeom>
          <a:noFill/>
          <a:ln/>
        </p:spPr>
        <p:txBody>
          <a:bodyPr wrap="square" rtlCol="0" anchor="ctr"/>
          <a:lstStyle/>
          <a:p>
            <a:pPr indent="0" marL="0">
              <a:buNone/>
            </a:pPr>
            <a:r>
              <a:rPr lang="en-US" sz="1250" b="1" dirty="0">
                <a:solidFill>
                  <a:srgbClr val="16A34A"/>
                </a:solidFill>
                <a:latin typeface="Segoe UI" pitchFamily="34" charset="0"/>
                <a:ea typeface="Segoe UI" pitchFamily="34" charset="-122"/>
                <a:cs typeface="Segoe UI" pitchFamily="34" charset="-120"/>
              </a:rPr>
              <a:t>3. इसका क्या फायदा है? (Benefits)</a:t>
            </a:r>
            <a:endParaRPr lang="en-US" sz="1250" dirty="0"/>
          </a:p>
        </p:txBody>
      </p:sp>
      <p:sp>
        <p:nvSpPr>
          <p:cNvPr id="21" name="Text 19"/>
          <p:cNvSpPr/>
          <p:nvPr/>
        </p:nvSpPr>
        <p:spPr>
          <a:xfrm>
            <a:off x="8238744"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शून्य डुअल-अलॉटमेंट: एक गाड़ी कभी भी दो ग्राहकों को नहीं दी जा सकती। सिस्टम तुरंत लॉक कर देता है।</a:t>
            </a:r>
            <a:endParaRPr lang="en-US" sz="980" dirty="0"/>
          </a:p>
        </p:txBody>
      </p:sp>
      <p:sp>
        <p:nvSpPr>
          <p:cNvPr id="22" name="Text 20"/>
          <p:cNvSpPr/>
          <p:nvPr/>
        </p:nvSpPr>
        <p:spPr>
          <a:xfrm>
            <a:off x="8238744"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स्टॉक का तुरंत रोटेशन: यार्ड में खड़ी गाड़ियों को तुरंत ग्राहक मिल जाता है, जिससे ब्याज (Holding Cost) बचता है।</a:t>
            </a:r>
            <a:endParaRPr lang="en-US" sz="980" dirty="0"/>
          </a:p>
        </p:txBody>
      </p:sp>
      <p:sp>
        <p:nvSpPr>
          <p:cNvPr id="23" name="Text 21"/>
          <p:cNvSpPr/>
          <p:nvPr/>
        </p:nvSpPr>
        <p:spPr>
          <a:xfrm>
            <a:off x="8238744"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बुकिंग डिलीट होने पर सेफ्टी: बुकिंग डिलीट होते ही गाड़ी अपने आप दोबारा फ़्री स्टॉक में आ जाती है।</a:t>
            </a:r>
            <a:endParaRPr lang="en-US" sz="9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MODULE 07 • CHALLANS &amp; GATEPASS</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मॉड्यूल 7: डिलीवरी चालान, टैक्स इनवॉइस एवं सिक्योरिटी गेटपास</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10</a:t>
            </a:r>
            <a:endParaRPr lang="en-US" sz="900" dirty="0"/>
          </a:p>
        </p:txBody>
      </p:sp>
      <p:sp>
        <p:nvSpPr>
          <p:cNvPr id="7" name="Shape 5"/>
          <p:cNvSpPr/>
          <p:nvPr/>
        </p:nvSpPr>
        <p:spPr>
          <a:xfrm>
            <a:off x="731520" y="1463040"/>
            <a:ext cx="3429000" cy="4663440"/>
          </a:xfrm>
          <a:prstGeom prst="roundRect">
            <a:avLst>
              <a:gd name="adj" fmla="val 3200"/>
            </a:avLst>
          </a:prstGeom>
          <a:solidFill>
            <a:srgbClr val="EFF6FF"/>
          </a:solidFill>
          <a:ln w="15240">
            <a:solidFill>
              <a:srgbClr val="2563EB"/>
            </a:solidFill>
            <a:prstDash val="solid"/>
          </a:ln>
        </p:spPr>
      </p:sp>
      <p:sp>
        <p:nvSpPr>
          <p:cNvPr id="8" name="Text 6"/>
          <p:cNvSpPr/>
          <p:nvPr/>
        </p:nvSpPr>
        <p:spPr>
          <a:xfrm>
            <a:off x="960120" y="1691640"/>
            <a:ext cx="2971800" cy="411480"/>
          </a:xfrm>
          <a:prstGeom prst="rect">
            <a:avLst/>
          </a:prstGeom>
          <a:noFill/>
          <a:ln/>
        </p:spPr>
        <p:txBody>
          <a:bodyPr wrap="square" rtlCol="0" anchor="ctr"/>
          <a:lstStyle/>
          <a:p>
            <a:pPr indent="0" marL="0">
              <a:buNone/>
            </a:pPr>
            <a:r>
              <a:rPr lang="en-US" sz="1250" b="1" dirty="0">
                <a:solidFill>
                  <a:srgbClr val="2563EB"/>
                </a:solidFill>
                <a:latin typeface="Segoe UI" pitchFamily="34" charset="0"/>
                <a:ea typeface="Segoe UI" pitchFamily="34" charset="-122"/>
                <a:cs typeface="Segoe UI" pitchFamily="34" charset="-120"/>
              </a:rPr>
              <a:t>1. कहाँ करना होता है? (Where)</a:t>
            </a:r>
            <a:endParaRPr lang="en-US" sz="1250" dirty="0"/>
          </a:p>
        </p:txBody>
      </p:sp>
      <p:sp>
        <p:nvSpPr>
          <p:cNvPr id="9" name="Text 7"/>
          <p:cNvSpPr/>
          <p:nvPr/>
        </p:nvSpPr>
        <p:spPr>
          <a:xfrm>
            <a:off x="960120"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स्क्रीन: Challan, Invoicing &amp; Delivery Gatepass</a:t>
            </a:r>
            <a:endParaRPr lang="en-US" sz="980" dirty="0"/>
          </a:p>
        </p:txBody>
      </p:sp>
      <p:sp>
        <p:nvSpPr>
          <p:cNvPr id="10" name="Text 8"/>
          <p:cNvSpPr/>
          <p:nvPr/>
        </p:nvSpPr>
        <p:spPr>
          <a:xfrm>
            <a:off x="960120"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URL: /challans</a:t>
            </a:r>
            <a:endParaRPr lang="en-US" sz="980" dirty="0"/>
          </a:p>
        </p:txBody>
      </p:sp>
      <p:sp>
        <p:nvSpPr>
          <p:cNvPr id="11" name="Text 9"/>
          <p:cNvSpPr/>
          <p:nvPr/>
        </p:nvSpPr>
        <p:spPr>
          <a:xfrm>
            <a:off x="960120"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अधिकृत यूजर: Accounts Manager, Cashier, Gate Security Officer</a:t>
            </a:r>
            <a:endParaRPr lang="en-US" sz="980" dirty="0"/>
          </a:p>
        </p:txBody>
      </p:sp>
      <p:sp>
        <p:nvSpPr>
          <p:cNvPr id="12" name="Text 10"/>
          <p:cNvSpPr/>
          <p:nvPr/>
        </p:nvSpPr>
        <p:spPr>
          <a:xfrm>
            <a:off x="960120"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दस्तावेज़: Tax Invoice, Delivery Challan, Security Gatepass</a:t>
            </a:r>
            <a:endParaRPr lang="en-US" sz="980" dirty="0"/>
          </a:p>
        </p:txBody>
      </p:sp>
      <p:sp>
        <p:nvSpPr>
          <p:cNvPr id="13" name="Shape 11"/>
          <p:cNvSpPr/>
          <p:nvPr/>
        </p:nvSpPr>
        <p:spPr>
          <a:xfrm>
            <a:off x="4370832" y="1463040"/>
            <a:ext cx="3429000" cy="4663440"/>
          </a:xfrm>
          <a:prstGeom prst="roundRect">
            <a:avLst>
              <a:gd name="adj" fmla="val 3200"/>
            </a:avLst>
          </a:prstGeom>
          <a:solidFill>
            <a:srgbClr val="FFFBEB"/>
          </a:solidFill>
          <a:ln w="15240">
            <a:solidFill>
              <a:srgbClr val="D97706"/>
            </a:solidFill>
            <a:prstDash val="solid"/>
          </a:ln>
        </p:spPr>
      </p:sp>
      <p:sp>
        <p:nvSpPr>
          <p:cNvPr id="14" name="Text 12"/>
          <p:cNvSpPr/>
          <p:nvPr/>
        </p:nvSpPr>
        <p:spPr>
          <a:xfrm>
            <a:off x="4599432" y="1691640"/>
            <a:ext cx="2971800" cy="411480"/>
          </a:xfrm>
          <a:prstGeom prst="rect">
            <a:avLst/>
          </a:prstGeom>
          <a:noFill/>
          <a:ln/>
        </p:spPr>
        <p:txBody>
          <a:bodyPr wrap="square" rtlCol="0" anchor="ctr"/>
          <a:lstStyle/>
          <a:p>
            <a:pPr indent="0" marL="0">
              <a:buNone/>
            </a:pPr>
            <a:r>
              <a:rPr lang="en-US" sz="1250" b="1" dirty="0">
                <a:solidFill>
                  <a:srgbClr val="D97706"/>
                </a:solidFill>
                <a:latin typeface="Segoe UI" pitchFamily="34" charset="0"/>
                <a:ea typeface="Segoe UI" pitchFamily="34" charset="-122"/>
                <a:cs typeface="Segoe UI" pitchFamily="34" charset="-120"/>
              </a:rPr>
              <a:t>2. कैसे करना होता है? (How To Do)</a:t>
            </a:r>
            <a:endParaRPr lang="en-US" sz="1250" dirty="0"/>
          </a:p>
        </p:txBody>
      </p:sp>
      <p:sp>
        <p:nvSpPr>
          <p:cNvPr id="15" name="Text 13"/>
          <p:cNvSpPr/>
          <p:nvPr/>
        </p:nvSpPr>
        <p:spPr>
          <a:xfrm>
            <a:off x="4599432"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1: अलॉटेड बुकिंग से ग्राहक चुनें—गाड़ी व ग्राहक का विवरण अपने आप भर जाता है।</a:t>
            </a:r>
            <a:endParaRPr lang="en-US" sz="980" dirty="0"/>
          </a:p>
        </p:txBody>
      </p:sp>
      <p:sp>
        <p:nvSpPr>
          <p:cNvPr id="16" name="Text 14"/>
          <p:cNvSpPr/>
          <p:nvPr/>
        </p:nvSpPr>
        <p:spPr>
          <a:xfrm>
            <a:off x="4599432"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2: Ex-Showroom, RTO, Insurance, Fastag और एक्सेसरीज़ का ब्रेकअप डालें।</a:t>
            </a:r>
            <a:endParaRPr lang="en-US" sz="980" dirty="0"/>
          </a:p>
        </p:txBody>
      </p:sp>
      <p:sp>
        <p:nvSpPr>
          <p:cNvPr id="17" name="Text 15"/>
          <p:cNvSpPr/>
          <p:nvPr/>
        </p:nvSpPr>
        <p:spPr>
          <a:xfrm>
            <a:off x="4599432"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3: GST और TCS का ऑटो-कैलकुलेशन होगा।</a:t>
            </a:r>
            <a:endParaRPr lang="en-US" sz="980" dirty="0"/>
          </a:p>
        </p:txBody>
      </p:sp>
      <p:sp>
        <p:nvSpPr>
          <p:cNvPr id="18" name="Text 16"/>
          <p:cNvSpPr/>
          <p:nvPr/>
        </p:nvSpPr>
        <p:spPr>
          <a:xfrm>
            <a:off x="4599432" y="4352544"/>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4: चालान सेव करें और प्रिंट करें।</a:t>
            </a:r>
            <a:endParaRPr lang="en-US" sz="980" dirty="0"/>
          </a:p>
        </p:txBody>
      </p:sp>
      <p:sp>
        <p:nvSpPr>
          <p:cNvPr id="19" name="Text 17"/>
          <p:cNvSpPr/>
          <p:nvPr/>
        </p:nvSpPr>
        <p:spPr>
          <a:xfrm>
            <a:off x="4599432" y="5056632"/>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स्टेप 5: सिक्योरिटी गेटपास जारी करें जिसमें QR कोड होता है जिसे मेन गेट पर गार्ड स्कैन करके गाड़ी बाहर निकालता है।</a:t>
            </a:r>
            <a:endParaRPr lang="en-US" sz="980" dirty="0"/>
          </a:p>
        </p:txBody>
      </p:sp>
      <p:sp>
        <p:nvSpPr>
          <p:cNvPr id="20" name="Shape 18"/>
          <p:cNvSpPr/>
          <p:nvPr/>
        </p:nvSpPr>
        <p:spPr>
          <a:xfrm>
            <a:off x="8010144" y="1463040"/>
            <a:ext cx="3429000" cy="4663440"/>
          </a:xfrm>
          <a:prstGeom prst="roundRect">
            <a:avLst>
              <a:gd name="adj" fmla="val 3200"/>
            </a:avLst>
          </a:prstGeom>
          <a:solidFill>
            <a:srgbClr val="F0FDF4"/>
          </a:solidFill>
          <a:ln w="15240">
            <a:solidFill>
              <a:srgbClr val="16A34A"/>
            </a:solidFill>
            <a:prstDash val="solid"/>
          </a:ln>
        </p:spPr>
      </p:sp>
      <p:sp>
        <p:nvSpPr>
          <p:cNvPr id="21" name="Text 19"/>
          <p:cNvSpPr/>
          <p:nvPr/>
        </p:nvSpPr>
        <p:spPr>
          <a:xfrm>
            <a:off x="8238744" y="1691640"/>
            <a:ext cx="2971800" cy="411480"/>
          </a:xfrm>
          <a:prstGeom prst="rect">
            <a:avLst/>
          </a:prstGeom>
          <a:noFill/>
          <a:ln/>
        </p:spPr>
        <p:txBody>
          <a:bodyPr wrap="square" rtlCol="0" anchor="ctr"/>
          <a:lstStyle/>
          <a:p>
            <a:pPr indent="0" marL="0">
              <a:buNone/>
            </a:pPr>
            <a:r>
              <a:rPr lang="en-US" sz="1250" b="1" dirty="0">
                <a:solidFill>
                  <a:srgbClr val="16A34A"/>
                </a:solidFill>
                <a:latin typeface="Segoe UI" pitchFamily="34" charset="0"/>
                <a:ea typeface="Segoe UI" pitchFamily="34" charset="-122"/>
                <a:cs typeface="Segoe UI" pitchFamily="34" charset="-120"/>
              </a:rPr>
              <a:t>3. इसका क्या फायदा है? (Benefits)</a:t>
            </a:r>
            <a:endParaRPr lang="en-US" sz="1250" dirty="0"/>
          </a:p>
        </p:txBody>
      </p:sp>
      <p:sp>
        <p:nvSpPr>
          <p:cNvPr id="22" name="Text 20"/>
          <p:cNvSpPr/>
          <p:nvPr/>
        </p:nvSpPr>
        <p:spPr>
          <a:xfrm>
            <a:off x="8238744" y="2240280"/>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100% चोरी व हेराफेरी रोकथाम: बिना डिजिटल गेटपास के कोई भी गाड़ी गेट से बाहर नहीं निकल सकती।</a:t>
            </a:r>
            <a:endParaRPr lang="en-US" sz="980" dirty="0"/>
          </a:p>
        </p:txBody>
      </p:sp>
      <p:sp>
        <p:nvSpPr>
          <p:cNvPr id="23" name="Text 21"/>
          <p:cNvSpPr/>
          <p:nvPr/>
        </p:nvSpPr>
        <p:spPr>
          <a:xfrm>
            <a:off x="8238744" y="2944368"/>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कैलकुलेशन में 0 गलती: GST और टैक्स ब्रेकअप सिस्टम खुद करता है, जिससे अकाउंट्स में कोई मिसमैच नहीं होता।</a:t>
            </a:r>
            <a:endParaRPr lang="en-US" sz="980" dirty="0"/>
          </a:p>
        </p:txBody>
      </p:sp>
      <p:sp>
        <p:nvSpPr>
          <p:cNvPr id="24" name="Text 22"/>
          <p:cNvSpPr/>
          <p:nvPr/>
        </p:nvSpPr>
        <p:spPr>
          <a:xfrm>
            <a:off x="8238744" y="3648456"/>
            <a:ext cx="2971800" cy="658368"/>
          </a:xfrm>
          <a:prstGeom prst="rect">
            <a:avLst/>
          </a:prstGeom>
          <a:noFill/>
          <a:ln/>
        </p:spPr>
        <p:txBody>
          <a:bodyPr wrap="square" rtlCol="0" anchor="ctr"/>
          <a:lstStyle/>
          <a:p>
            <a:pPr indent="0" marL="0">
              <a:lnSpc>
                <a:spcPts val="1500"/>
              </a:lnSpc>
              <a:buNone/>
            </a:pPr>
            <a:r>
              <a:rPr lang="en-US" sz="980" dirty="0">
                <a:solidFill>
                  <a:srgbClr val="0F172A"/>
                </a:solidFill>
                <a:latin typeface="Segoe UI" pitchFamily="34" charset="0"/>
                <a:ea typeface="Segoe UI" pitchFamily="34" charset="-122"/>
                <a:cs typeface="Segoe UI" pitchFamily="34" charset="-120"/>
              </a:rPr>
              <a:t>•  फास्ट डिलीवरी एक्सपीरियंस: ग्राहक को चालान और गेटपास 2 मिनट में प्रिंट होकर मिल जाता है।</a:t>
            </a:r>
            <a:endParaRPr lang="en-US" sz="9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MODULE 08 • EXECUTIVE COCKPIT</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मॉड्यूल 8: एक्जीक्यूटिव डैशबोर्ड एवं बिजनेस एनालिटिक्स</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11</a:t>
            </a:r>
            <a:endParaRPr lang="en-US" sz="900" dirty="0"/>
          </a:p>
        </p:txBody>
      </p:sp>
      <p:sp>
        <p:nvSpPr>
          <p:cNvPr id="7" name="Shape 5"/>
          <p:cNvSpPr/>
          <p:nvPr/>
        </p:nvSpPr>
        <p:spPr>
          <a:xfrm>
            <a:off x="731520" y="1463040"/>
            <a:ext cx="5120640" cy="4663440"/>
          </a:xfrm>
          <a:prstGeom prst="roundRect">
            <a:avLst>
              <a:gd name="adj" fmla="val 2353"/>
            </a:avLst>
          </a:prstGeom>
          <a:solidFill>
            <a:srgbClr val="F8FAFC"/>
          </a:solidFill>
          <a:ln w="12700">
            <a:solidFill>
              <a:srgbClr val="E2E8F0"/>
            </a:solidFill>
            <a:prstDash val="solid"/>
          </a:ln>
        </p:spPr>
      </p:sp>
      <p:sp>
        <p:nvSpPr>
          <p:cNvPr id="8" name="Text 6"/>
          <p:cNvSpPr/>
          <p:nvPr/>
        </p:nvSpPr>
        <p:spPr>
          <a:xfrm>
            <a:off x="1005840" y="1691640"/>
            <a:ext cx="4572000" cy="320040"/>
          </a:xfrm>
          <a:prstGeom prst="rect">
            <a:avLst/>
          </a:prstGeom>
          <a:noFill/>
          <a:ln/>
        </p:spPr>
        <p:txBody>
          <a:bodyPr wrap="square" rtlCol="0" anchor="ctr"/>
          <a:lstStyle/>
          <a:p>
            <a:pPr indent="0" marL="0">
              <a:buNone/>
            </a:pPr>
            <a:r>
              <a:rPr lang="en-US" sz="1400" b="1" dirty="0">
                <a:solidFill>
                  <a:srgbClr val="0F172A"/>
                </a:solidFill>
                <a:latin typeface="Segoe UI" pitchFamily="34" charset="0"/>
                <a:ea typeface="Segoe UI" pitchFamily="34" charset="-122"/>
                <a:cs typeface="Segoe UI" pitchFamily="34" charset="-120"/>
              </a:rPr>
              <a:t>रियल-टाइम लाइव मेट्रिक्स (Live KPI Dashboard)</a:t>
            </a:r>
            <a:endParaRPr lang="en-US" sz="1400" dirty="0"/>
          </a:p>
        </p:txBody>
      </p:sp>
      <p:sp>
        <p:nvSpPr>
          <p:cNvPr id="9" name="Shape 7"/>
          <p:cNvSpPr/>
          <p:nvPr/>
        </p:nvSpPr>
        <p:spPr>
          <a:xfrm>
            <a:off x="1005840" y="2194560"/>
            <a:ext cx="4572000" cy="777240"/>
          </a:xfrm>
          <a:prstGeom prst="roundRect">
            <a:avLst>
              <a:gd name="adj" fmla="val 9412"/>
            </a:avLst>
          </a:prstGeom>
          <a:solidFill>
            <a:srgbClr val="FFFFFF"/>
          </a:solidFill>
          <a:ln w="12700">
            <a:solidFill>
              <a:srgbClr val="E2E8F0"/>
            </a:solidFill>
            <a:prstDash val="solid"/>
          </a:ln>
        </p:spPr>
      </p:sp>
      <p:sp>
        <p:nvSpPr>
          <p:cNvPr id="10" name="Text 8"/>
          <p:cNvSpPr/>
          <p:nvPr/>
        </p:nvSpPr>
        <p:spPr>
          <a:xfrm>
            <a:off x="1143000" y="2286000"/>
            <a:ext cx="2560320" cy="228600"/>
          </a:xfrm>
          <a:prstGeom prst="rect">
            <a:avLst/>
          </a:prstGeom>
          <a:noFill/>
          <a:ln/>
        </p:spPr>
        <p:txBody>
          <a:bodyPr wrap="square" rtlCol="0" anchor="ctr"/>
          <a:lstStyle/>
          <a:p>
            <a:pPr indent="0" marL="0">
              <a:buNone/>
            </a:pPr>
            <a:r>
              <a:rPr lang="en-US" sz="1000" b="1" dirty="0">
                <a:solidFill>
                  <a:srgbClr val="2563EB"/>
                </a:solidFill>
                <a:latin typeface="Segoe UI" pitchFamily="34" charset="0"/>
                <a:ea typeface="Segoe UI" pitchFamily="34" charset="-122"/>
                <a:cs typeface="Segoe UI" pitchFamily="34" charset="-120"/>
              </a:rPr>
              <a:t>Total Fleet Size</a:t>
            </a:r>
            <a:endParaRPr lang="en-US" sz="1000" dirty="0"/>
          </a:p>
        </p:txBody>
      </p:sp>
      <p:sp>
        <p:nvSpPr>
          <p:cNvPr id="11" name="Text 9"/>
          <p:cNvSpPr/>
          <p:nvPr/>
        </p:nvSpPr>
        <p:spPr>
          <a:xfrm>
            <a:off x="1143000" y="2542032"/>
            <a:ext cx="2560320" cy="320040"/>
          </a:xfrm>
          <a:prstGeom prst="rect">
            <a:avLst/>
          </a:prstGeom>
          <a:noFill/>
          <a:ln/>
        </p:spPr>
        <p:txBody>
          <a:bodyPr wrap="square" rtlCol="0" anchor="ctr"/>
          <a:lstStyle/>
          <a:p>
            <a:pPr indent="0" marL="0">
              <a:buNone/>
            </a:pPr>
            <a:r>
              <a:rPr lang="en-US" sz="880" dirty="0">
                <a:solidFill>
                  <a:srgbClr val="64748B"/>
                </a:solidFill>
                <a:latin typeface="Segoe UI" pitchFamily="34" charset="0"/>
                <a:ea typeface="Segoe UI" pitchFamily="34" charset="-122"/>
                <a:cs typeface="Segoe UI" pitchFamily="34" charset="-120"/>
              </a:rPr>
              <a:t>Basni, Pune &amp; Shantinath Yards में लाइव इन्वेंट्री</a:t>
            </a:r>
            <a:endParaRPr lang="en-US" sz="880" dirty="0"/>
          </a:p>
        </p:txBody>
      </p:sp>
      <p:sp>
        <p:nvSpPr>
          <p:cNvPr id="12" name="Text 10"/>
          <p:cNvSpPr/>
          <p:nvPr/>
        </p:nvSpPr>
        <p:spPr>
          <a:xfrm>
            <a:off x="3474720" y="2359152"/>
            <a:ext cx="1920240" cy="411480"/>
          </a:xfrm>
          <a:prstGeom prst="rect">
            <a:avLst/>
          </a:prstGeom>
          <a:noFill/>
          <a:ln/>
        </p:spPr>
        <p:txBody>
          <a:bodyPr wrap="square" rtlCol="0" anchor="ctr"/>
          <a:lstStyle/>
          <a:p>
            <a:pPr algn="r" indent="0" marL="0">
              <a:buNone/>
            </a:pPr>
            <a:r>
              <a:rPr lang="en-US" sz="1200" b="1" dirty="0">
                <a:solidFill>
                  <a:srgbClr val="0F172A"/>
                </a:solidFill>
                <a:latin typeface="Segoe UI" pitchFamily="34" charset="0"/>
                <a:ea typeface="Segoe UI" pitchFamily="34" charset="-122"/>
                <a:cs typeface="Segoe UI" pitchFamily="34" charset="-120"/>
              </a:rPr>
              <a:t>540+ गाड़ियां</a:t>
            </a:r>
            <a:endParaRPr lang="en-US" sz="1200" dirty="0"/>
          </a:p>
        </p:txBody>
      </p:sp>
      <p:sp>
        <p:nvSpPr>
          <p:cNvPr id="13" name="Shape 11"/>
          <p:cNvSpPr/>
          <p:nvPr/>
        </p:nvSpPr>
        <p:spPr>
          <a:xfrm>
            <a:off x="1005840" y="3108960"/>
            <a:ext cx="4572000" cy="777240"/>
          </a:xfrm>
          <a:prstGeom prst="roundRect">
            <a:avLst>
              <a:gd name="adj" fmla="val 9412"/>
            </a:avLst>
          </a:prstGeom>
          <a:solidFill>
            <a:srgbClr val="FFFFFF"/>
          </a:solidFill>
          <a:ln w="12700">
            <a:solidFill>
              <a:srgbClr val="E2E8F0"/>
            </a:solidFill>
            <a:prstDash val="solid"/>
          </a:ln>
        </p:spPr>
      </p:sp>
      <p:sp>
        <p:nvSpPr>
          <p:cNvPr id="14" name="Text 12"/>
          <p:cNvSpPr/>
          <p:nvPr/>
        </p:nvSpPr>
        <p:spPr>
          <a:xfrm>
            <a:off x="1143000" y="3200400"/>
            <a:ext cx="2560320" cy="228600"/>
          </a:xfrm>
          <a:prstGeom prst="rect">
            <a:avLst/>
          </a:prstGeom>
          <a:noFill/>
          <a:ln/>
        </p:spPr>
        <p:txBody>
          <a:bodyPr wrap="square" rtlCol="0" anchor="ctr"/>
          <a:lstStyle/>
          <a:p>
            <a:pPr indent="0" marL="0">
              <a:buNone/>
            </a:pPr>
            <a:r>
              <a:rPr lang="en-US" sz="1000" b="1" dirty="0">
                <a:solidFill>
                  <a:srgbClr val="2563EB"/>
                </a:solidFill>
                <a:latin typeface="Segoe UI" pitchFamily="34" charset="0"/>
                <a:ea typeface="Segoe UI" pitchFamily="34" charset="-122"/>
                <a:cs typeface="Segoe UI" pitchFamily="34" charset="-120"/>
              </a:rPr>
              <a:t>PDI Pass Rate</a:t>
            </a:r>
            <a:endParaRPr lang="en-US" sz="1000" dirty="0"/>
          </a:p>
        </p:txBody>
      </p:sp>
      <p:sp>
        <p:nvSpPr>
          <p:cNvPr id="15" name="Text 13"/>
          <p:cNvSpPr/>
          <p:nvPr/>
        </p:nvSpPr>
        <p:spPr>
          <a:xfrm>
            <a:off x="1143000" y="3456432"/>
            <a:ext cx="2560320" cy="320040"/>
          </a:xfrm>
          <a:prstGeom prst="rect">
            <a:avLst/>
          </a:prstGeom>
          <a:noFill/>
          <a:ln/>
        </p:spPr>
        <p:txBody>
          <a:bodyPr wrap="square" rtlCol="0" anchor="ctr"/>
          <a:lstStyle/>
          <a:p>
            <a:pPr indent="0" marL="0">
              <a:buNone/>
            </a:pPr>
            <a:r>
              <a:rPr lang="en-US" sz="880" dirty="0">
                <a:solidFill>
                  <a:srgbClr val="64748B"/>
                </a:solidFill>
                <a:latin typeface="Segoe UI" pitchFamily="34" charset="0"/>
                <a:ea typeface="Segoe UI" pitchFamily="34" charset="-122"/>
                <a:cs typeface="Segoe UI" pitchFamily="34" charset="-120"/>
              </a:rPr>
              <a:t>डिफेक्ट मुक्त गुणवत्ता का पैमाना</a:t>
            </a:r>
            <a:endParaRPr lang="en-US" sz="880" dirty="0"/>
          </a:p>
        </p:txBody>
      </p:sp>
      <p:sp>
        <p:nvSpPr>
          <p:cNvPr id="16" name="Text 14"/>
          <p:cNvSpPr/>
          <p:nvPr/>
        </p:nvSpPr>
        <p:spPr>
          <a:xfrm>
            <a:off x="3474720" y="3273552"/>
            <a:ext cx="1920240" cy="411480"/>
          </a:xfrm>
          <a:prstGeom prst="rect">
            <a:avLst/>
          </a:prstGeom>
          <a:noFill/>
          <a:ln/>
        </p:spPr>
        <p:txBody>
          <a:bodyPr wrap="square" rtlCol="0" anchor="ctr"/>
          <a:lstStyle/>
          <a:p>
            <a:pPr algn="r" indent="0" marL="0">
              <a:buNone/>
            </a:pPr>
            <a:r>
              <a:rPr lang="en-US" sz="1200" b="1" dirty="0">
                <a:solidFill>
                  <a:srgbClr val="0F172A"/>
                </a:solidFill>
                <a:latin typeface="Segoe UI" pitchFamily="34" charset="0"/>
                <a:ea typeface="Segoe UI" pitchFamily="34" charset="-122"/>
                <a:cs typeface="Segoe UI" pitchFamily="34" charset="-120"/>
              </a:rPr>
              <a:t>94.8% First-Time Pass</a:t>
            </a:r>
            <a:endParaRPr lang="en-US" sz="1200" dirty="0"/>
          </a:p>
        </p:txBody>
      </p:sp>
      <p:sp>
        <p:nvSpPr>
          <p:cNvPr id="17" name="Shape 15"/>
          <p:cNvSpPr/>
          <p:nvPr/>
        </p:nvSpPr>
        <p:spPr>
          <a:xfrm>
            <a:off x="1005840" y="4023360"/>
            <a:ext cx="4572000" cy="777240"/>
          </a:xfrm>
          <a:prstGeom prst="roundRect">
            <a:avLst>
              <a:gd name="adj" fmla="val 9412"/>
            </a:avLst>
          </a:prstGeom>
          <a:solidFill>
            <a:srgbClr val="FFFFFF"/>
          </a:solidFill>
          <a:ln w="12700">
            <a:solidFill>
              <a:srgbClr val="E2E8F0"/>
            </a:solidFill>
            <a:prstDash val="solid"/>
          </a:ln>
        </p:spPr>
      </p:sp>
      <p:sp>
        <p:nvSpPr>
          <p:cNvPr id="18" name="Text 16"/>
          <p:cNvSpPr/>
          <p:nvPr/>
        </p:nvSpPr>
        <p:spPr>
          <a:xfrm>
            <a:off x="1143000" y="4114800"/>
            <a:ext cx="2560320" cy="228600"/>
          </a:xfrm>
          <a:prstGeom prst="rect">
            <a:avLst/>
          </a:prstGeom>
          <a:noFill/>
          <a:ln/>
        </p:spPr>
        <p:txBody>
          <a:bodyPr wrap="square" rtlCol="0" anchor="ctr"/>
          <a:lstStyle/>
          <a:p>
            <a:pPr indent="0" marL="0">
              <a:buNone/>
            </a:pPr>
            <a:r>
              <a:rPr lang="en-US" sz="1000" b="1" dirty="0">
                <a:solidFill>
                  <a:srgbClr val="2563EB"/>
                </a:solidFill>
                <a:latin typeface="Segoe UI" pitchFamily="34" charset="0"/>
                <a:ea typeface="Segoe UI" pitchFamily="34" charset="-122"/>
                <a:cs typeface="Segoe UI" pitchFamily="34" charset="-120"/>
              </a:rPr>
              <a:t>Avg Yard Dwell Time</a:t>
            </a:r>
            <a:endParaRPr lang="en-US" sz="1000" dirty="0"/>
          </a:p>
        </p:txBody>
      </p:sp>
      <p:sp>
        <p:nvSpPr>
          <p:cNvPr id="19" name="Text 17"/>
          <p:cNvSpPr/>
          <p:nvPr/>
        </p:nvSpPr>
        <p:spPr>
          <a:xfrm>
            <a:off x="1143000" y="4370832"/>
            <a:ext cx="2560320" cy="320040"/>
          </a:xfrm>
          <a:prstGeom prst="rect">
            <a:avLst/>
          </a:prstGeom>
          <a:noFill/>
          <a:ln/>
        </p:spPr>
        <p:txBody>
          <a:bodyPr wrap="square" rtlCol="0" anchor="ctr"/>
          <a:lstStyle/>
          <a:p>
            <a:pPr indent="0" marL="0">
              <a:buNone/>
            </a:pPr>
            <a:r>
              <a:rPr lang="en-US" sz="880" dirty="0">
                <a:solidFill>
                  <a:srgbClr val="64748B"/>
                </a:solidFill>
                <a:latin typeface="Segoe UI" pitchFamily="34" charset="0"/>
                <a:ea typeface="Segoe UI" pitchFamily="34" charset="-122"/>
                <a:cs typeface="Segoe UI" pitchFamily="34" charset="-120"/>
              </a:rPr>
              <a:t>गाड़ी आने से कस्टमर डिलीवरी का औसत समय</a:t>
            </a:r>
            <a:endParaRPr lang="en-US" sz="880" dirty="0"/>
          </a:p>
        </p:txBody>
      </p:sp>
      <p:sp>
        <p:nvSpPr>
          <p:cNvPr id="20" name="Text 18"/>
          <p:cNvSpPr/>
          <p:nvPr/>
        </p:nvSpPr>
        <p:spPr>
          <a:xfrm>
            <a:off x="3474720" y="4187952"/>
            <a:ext cx="1920240" cy="411480"/>
          </a:xfrm>
          <a:prstGeom prst="rect">
            <a:avLst/>
          </a:prstGeom>
          <a:noFill/>
          <a:ln/>
        </p:spPr>
        <p:txBody>
          <a:bodyPr wrap="square" rtlCol="0" anchor="ctr"/>
          <a:lstStyle/>
          <a:p>
            <a:pPr algn="r" indent="0" marL="0">
              <a:buNone/>
            </a:pPr>
            <a:r>
              <a:rPr lang="en-US" sz="1200" b="1" dirty="0">
                <a:solidFill>
                  <a:srgbClr val="0F172A"/>
                </a:solidFill>
                <a:latin typeface="Segoe UI" pitchFamily="34" charset="0"/>
                <a:ea typeface="Segoe UI" pitchFamily="34" charset="-122"/>
                <a:cs typeface="Segoe UI" pitchFamily="34" charset="-120"/>
              </a:rPr>
              <a:t>14.2 Days</a:t>
            </a:r>
            <a:endParaRPr lang="en-US" sz="1200" dirty="0"/>
          </a:p>
        </p:txBody>
      </p:sp>
      <p:sp>
        <p:nvSpPr>
          <p:cNvPr id="21" name="Shape 19"/>
          <p:cNvSpPr/>
          <p:nvPr/>
        </p:nvSpPr>
        <p:spPr>
          <a:xfrm>
            <a:off x="1005840" y="4937760"/>
            <a:ext cx="4572000" cy="777240"/>
          </a:xfrm>
          <a:prstGeom prst="roundRect">
            <a:avLst>
              <a:gd name="adj" fmla="val 9412"/>
            </a:avLst>
          </a:prstGeom>
          <a:solidFill>
            <a:srgbClr val="FFFFFF"/>
          </a:solidFill>
          <a:ln w="12700">
            <a:solidFill>
              <a:srgbClr val="E2E8F0"/>
            </a:solidFill>
            <a:prstDash val="solid"/>
          </a:ln>
        </p:spPr>
      </p:sp>
      <p:sp>
        <p:nvSpPr>
          <p:cNvPr id="22" name="Text 20"/>
          <p:cNvSpPr/>
          <p:nvPr/>
        </p:nvSpPr>
        <p:spPr>
          <a:xfrm>
            <a:off x="1143000" y="5029200"/>
            <a:ext cx="2560320" cy="228600"/>
          </a:xfrm>
          <a:prstGeom prst="rect">
            <a:avLst/>
          </a:prstGeom>
          <a:noFill/>
          <a:ln/>
        </p:spPr>
        <p:txBody>
          <a:bodyPr wrap="square" rtlCol="0" anchor="ctr"/>
          <a:lstStyle/>
          <a:p>
            <a:pPr indent="0" marL="0">
              <a:buNone/>
            </a:pPr>
            <a:r>
              <a:rPr lang="en-US" sz="1000" b="1" dirty="0">
                <a:solidFill>
                  <a:srgbClr val="2563EB"/>
                </a:solidFill>
                <a:latin typeface="Segoe UI" pitchFamily="34" charset="0"/>
                <a:ea typeface="Segoe UI" pitchFamily="34" charset="-122"/>
                <a:cs typeface="Segoe UI" pitchFamily="34" charset="-120"/>
              </a:rPr>
              <a:t>Total Advance Collected</a:t>
            </a:r>
            <a:endParaRPr lang="en-US" sz="1000" dirty="0"/>
          </a:p>
        </p:txBody>
      </p:sp>
      <p:sp>
        <p:nvSpPr>
          <p:cNvPr id="23" name="Text 21"/>
          <p:cNvSpPr/>
          <p:nvPr/>
        </p:nvSpPr>
        <p:spPr>
          <a:xfrm>
            <a:off x="1143000" y="5285232"/>
            <a:ext cx="2560320" cy="320040"/>
          </a:xfrm>
          <a:prstGeom prst="rect">
            <a:avLst/>
          </a:prstGeom>
          <a:noFill/>
          <a:ln/>
        </p:spPr>
        <p:txBody>
          <a:bodyPr wrap="square" rtlCol="0" anchor="ctr"/>
          <a:lstStyle/>
          <a:p>
            <a:pPr indent="0" marL="0">
              <a:buNone/>
            </a:pPr>
            <a:r>
              <a:rPr lang="en-US" sz="880" dirty="0">
                <a:solidFill>
                  <a:srgbClr val="64748B"/>
                </a:solidFill>
                <a:latin typeface="Segoe UI" pitchFamily="34" charset="0"/>
                <a:ea typeface="Segoe UI" pitchFamily="34" charset="-122"/>
                <a:cs typeface="Segoe UI" pitchFamily="34" charset="-120"/>
              </a:rPr>
              <a:t>बुकिंग्स पर एकत्रित अग्रिम राशि</a:t>
            </a:r>
            <a:endParaRPr lang="en-US" sz="880" dirty="0"/>
          </a:p>
        </p:txBody>
      </p:sp>
      <p:sp>
        <p:nvSpPr>
          <p:cNvPr id="24" name="Text 22"/>
          <p:cNvSpPr/>
          <p:nvPr/>
        </p:nvSpPr>
        <p:spPr>
          <a:xfrm>
            <a:off x="3474720" y="5102352"/>
            <a:ext cx="1920240" cy="411480"/>
          </a:xfrm>
          <a:prstGeom prst="rect">
            <a:avLst/>
          </a:prstGeom>
          <a:noFill/>
          <a:ln/>
        </p:spPr>
        <p:txBody>
          <a:bodyPr wrap="square" rtlCol="0" anchor="ctr"/>
          <a:lstStyle/>
          <a:p>
            <a:pPr algn="r" indent="0" marL="0">
              <a:buNone/>
            </a:pPr>
            <a:r>
              <a:rPr lang="en-US" sz="1200" b="1" dirty="0">
                <a:solidFill>
                  <a:srgbClr val="0F172A"/>
                </a:solidFill>
                <a:latin typeface="Segoe UI" pitchFamily="34" charset="0"/>
                <a:ea typeface="Segoe UI" pitchFamily="34" charset="-122"/>
                <a:cs typeface="Segoe UI" pitchFamily="34" charset="-120"/>
              </a:rPr>
              <a:t>₹1.85+ Crore</a:t>
            </a:r>
            <a:endParaRPr lang="en-US" sz="1200" dirty="0"/>
          </a:p>
        </p:txBody>
      </p:sp>
      <p:sp>
        <p:nvSpPr>
          <p:cNvPr id="25" name="Shape 23"/>
          <p:cNvSpPr/>
          <p:nvPr/>
        </p:nvSpPr>
        <p:spPr>
          <a:xfrm>
            <a:off x="6217920" y="1463040"/>
            <a:ext cx="5239512" cy="4663440"/>
          </a:xfrm>
          <a:prstGeom prst="roundRect">
            <a:avLst>
              <a:gd name="adj" fmla="val 2353"/>
            </a:avLst>
          </a:prstGeom>
          <a:solidFill>
            <a:srgbClr val="EFF6FF"/>
          </a:solidFill>
          <a:ln w="15240">
            <a:solidFill>
              <a:srgbClr val="2563EB"/>
            </a:solidFill>
            <a:prstDash val="solid"/>
          </a:ln>
        </p:spPr>
      </p:sp>
      <p:sp>
        <p:nvSpPr>
          <p:cNvPr id="26" name="Text 24"/>
          <p:cNvSpPr/>
          <p:nvPr/>
        </p:nvSpPr>
        <p:spPr>
          <a:xfrm>
            <a:off x="6492240" y="1691640"/>
            <a:ext cx="4663440" cy="320040"/>
          </a:xfrm>
          <a:prstGeom prst="rect">
            <a:avLst/>
          </a:prstGeom>
          <a:noFill/>
          <a:ln/>
        </p:spPr>
        <p:txBody>
          <a:bodyPr wrap="square" rtlCol="0" anchor="ctr"/>
          <a:lstStyle/>
          <a:p>
            <a:pPr indent="0" marL="0">
              <a:buNone/>
            </a:pPr>
            <a:r>
              <a:rPr lang="en-US" sz="1350" b="1" dirty="0">
                <a:solidFill>
                  <a:srgbClr val="2563EB"/>
                </a:solidFill>
                <a:latin typeface="Segoe UI" pitchFamily="34" charset="0"/>
                <a:ea typeface="Segoe UI" pitchFamily="34" charset="-122"/>
                <a:cs typeface="Segoe UI" pitchFamily="34" charset="-120"/>
              </a:rPr>
              <a:t>मैनेजमेंट को क्या लाभ मिलता है? (Strategic Value)</a:t>
            </a:r>
            <a:endParaRPr lang="en-US" sz="1350" dirty="0"/>
          </a:p>
        </p:txBody>
      </p:sp>
      <p:sp>
        <p:nvSpPr>
          <p:cNvPr id="27" name="Text 25"/>
          <p:cNvSpPr/>
          <p:nvPr/>
        </p:nvSpPr>
        <p:spPr>
          <a:xfrm>
            <a:off x="6492240" y="2194560"/>
            <a:ext cx="4663440" cy="27432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  डिफेक्ट पारेटो एनालिसिस (Pareto Chart)</a:t>
            </a:r>
            <a:endParaRPr lang="en-US" sz="1050" dirty="0"/>
          </a:p>
        </p:txBody>
      </p:sp>
      <p:sp>
        <p:nvSpPr>
          <p:cNvPr id="28" name="Text 26"/>
          <p:cNvSpPr/>
          <p:nvPr/>
        </p:nvSpPr>
        <p:spPr>
          <a:xfrm>
            <a:off x="6675120" y="2450592"/>
            <a:ext cx="4480560" cy="59436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पता चलता है कि किस मॉडल (Nexon, Harrier, Creta) में कौन सा डिफ़ेक्ट बार-बार आ रहा है, ताकि OEM को शिकायत भेजी जा सके।</a:t>
            </a:r>
            <a:endParaRPr lang="en-US" sz="950" dirty="0"/>
          </a:p>
        </p:txBody>
      </p:sp>
      <p:sp>
        <p:nvSpPr>
          <p:cNvPr id="29" name="Text 27"/>
          <p:cNvSpPr/>
          <p:nvPr/>
        </p:nvSpPr>
        <p:spPr>
          <a:xfrm>
            <a:off x="6492240" y="3063240"/>
            <a:ext cx="4663440" cy="27432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  यार्ड कैपेसिटी मॉनिटरिंग</a:t>
            </a:r>
            <a:endParaRPr lang="en-US" sz="1050" dirty="0"/>
          </a:p>
        </p:txBody>
      </p:sp>
      <p:sp>
        <p:nvSpPr>
          <p:cNvPr id="30" name="Text 28"/>
          <p:cNvSpPr/>
          <p:nvPr/>
        </p:nvSpPr>
        <p:spPr>
          <a:xfrm>
            <a:off x="6675120" y="3319272"/>
            <a:ext cx="4480560" cy="59436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हर यार्ड में कितनी गाड़ियां खड़ी हैं और कितनी जगह खाली है, इसका सटीक प्रतिशत दिखता है।</a:t>
            </a:r>
            <a:endParaRPr lang="en-US" sz="950" dirty="0"/>
          </a:p>
        </p:txBody>
      </p:sp>
      <p:sp>
        <p:nvSpPr>
          <p:cNvPr id="31" name="Text 29"/>
          <p:cNvSpPr/>
          <p:nvPr/>
        </p:nvSpPr>
        <p:spPr>
          <a:xfrm>
            <a:off x="6492240" y="3931920"/>
            <a:ext cx="4663440" cy="27432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  एजिंग इन्वेंट्री अलार्म (Aging Stock)</a:t>
            </a:r>
            <a:endParaRPr lang="en-US" sz="1050" dirty="0"/>
          </a:p>
        </p:txBody>
      </p:sp>
      <p:sp>
        <p:nvSpPr>
          <p:cNvPr id="32" name="Text 30"/>
          <p:cNvSpPr/>
          <p:nvPr/>
        </p:nvSpPr>
        <p:spPr>
          <a:xfrm>
            <a:off x="6675120" y="4187952"/>
            <a:ext cx="4480560" cy="59436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जो गाड़ियां 60 दिन से ज्यादा समय से खड़ी हैं, उन पर तुरंत एक्शन लेकर डीलरशिप के पैसों को ब्लॉक होने से बचाया जाता है।</a:t>
            </a:r>
            <a:endParaRPr lang="en-US" sz="950" dirty="0"/>
          </a:p>
        </p:txBody>
      </p:sp>
      <p:sp>
        <p:nvSpPr>
          <p:cNvPr id="33" name="Text 31"/>
          <p:cNvSpPr/>
          <p:nvPr/>
        </p:nvSpPr>
        <p:spPr>
          <a:xfrm>
            <a:off x="6492240" y="4800600"/>
            <a:ext cx="4663440" cy="27432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  1-क्लिक एग्जीक्यूटिव PDF/Excel रिपोर्ट</a:t>
            </a:r>
            <a:endParaRPr lang="en-US" sz="1050" dirty="0"/>
          </a:p>
        </p:txBody>
      </p:sp>
      <p:sp>
        <p:nvSpPr>
          <p:cNvPr id="34" name="Text 32"/>
          <p:cNvSpPr/>
          <p:nvPr/>
        </p:nvSpPr>
        <p:spPr>
          <a:xfrm>
            <a:off x="6675120" y="5056632"/>
            <a:ext cx="4480560" cy="59436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डायरेक्टर्स और ऑडिटर्स के लिए सम्पूर्ण रिपोर्ट एक क्लिक में डाउनलोड हो जाती है।</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SECURITY &amp; PERMISSIONS</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रोल-बेस्ड एक्सेस कंट्रोल एवं सुरक्षा (User Roles &amp; Governance)</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12</a:t>
            </a:r>
            <a:endParaRPr lang="en-US" sz="900" dirty="0"/>
          </a:p>
        </p:txBody>
      </p:sp>
      <p:sp>
        <p:nvSpPr>
          <p:cNvPr id="7" name="Shape 5"/>
          <p:cNvSpPr/>
          <p:nvPr/>
        </p:nvSpPr>
        <p:spPr>
          <a:xfrm>
            <a:off x="731520" y="1463040"/>
            <a:ext cx="5257800" cy="1371600"/>
          </a:xfrm>
          <a:prstGeom prst="roundRect">
            <a:avLst>
              <a:gd name="adj" fmla="val 6667"/>
            </a:avLst>
          </a:prstGeom>
          <a:solidFill>
            <a:srgbClr val="F8FAFC"/>
          </a:solidFill>
          <a:ln w="12700">
            <a:solidFill>
              <a:srgbClr val="E2E8F0"/>
            </a:solidFill>
            <a:prstDash val="solid"/>
          </a:ln>
        </p:spPr>
      </p:sp>
      <p:sp>
        <p:nvSpPr>
          <p:cNvPr id="8" name="Shape 6"/>
          <p:cNvSpPr/>
          <p:nvPr/>
        </p:nvSpPr>
        <p:spPr>
          <a:xfrm>
            <a:off x="960120" y="1645920"/>
            <a:ext cx="1737360" cy="320040"/>
          </a:xfrm>
          <a:prstGeom prst="roundRect">
            <a:avLst>
              <a:gd name="adj" fmla="val 17143"/>
            </a:avLst>
          </a:prstGeom>
          <a:solidFill>
            <a:srgbClr val="0F172A"/>
          </a:solidFill>
          <a:ln w="12700">
            <a:solidFill>
              <a:srgbClr val="333333"/>
            </a:solidFill>
            <a:prstDash val="solid"/>
          </a:ln>
        </p:spPr>
      </p:sp>
      <p:sp>
        <p:nvSpPr>
          <p:cNvPr id="9" name="Text 7"/>
          <p:cNvSpPr/>
          <p:nvPr/>
        </p:nvSpPr>
        <p:spPr>
          <a:xfrm>
            <a:off x="960120" y="1645920"/>
            <a:ext cx="1737360" cy="32004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Super Admin</a:t>
            </a:r>
            <a:endParaRPr lang="en-US" sz="1000" dirty="0"/>
          </a:p>
        </p:txBody>
      </p:sp>
      <p:sp>
        <p:nvSpPr>
          <p:cNvPr id="10" name="Text 8"/>
          <p:cNvSpPr/>
          <p:nvPr/>
        </p:nvSpPr>
        <p:spPr>
          <a:xfrm>
            <a:off x="2834640" y="1645920"/>
            <a:ext cx="2926080" cy="320040"/>
          </a:xfrm>
          <a:prstGeom prst="rect">
            <a:avLst/>
          </a:prstGeom>
          <a:noFill/>
          <a:ln/>
        </p:spPr>
        <p:txBody>
          <a:bodyPr wrap="square" rtlCol="0" anchor="ctr"/>
          <a:lstStyle/>
          <a:p>
            <a:pPr indent="0" marL="0">
              <a:buNone/>
            </a:pPr>
            <a:r>
              <a:rPr lang="en-US" sz="1100" b="1" dirty="0">
                <a:solidFill>
                  <a:srgbClr val="2563EB"/>
                </a:solidFill>
                <a:latin typeface="Segoe UI" pitchFamily="34" charset="0"/>
                <a:ea typeface="Segoe UI" pitchFamily="34" charset="-122"/>
                <a:cs typeface="Segoe UI" pitchFamily="34" charset="-120"/>
              </a:rPr>
              <a:t>Rajesh Dhoot / System Admin</a:t>
            </a:r>
            <a:endParaRPr lang="en-US" sz="1100" dirty="0"/>
          </a:p>
        </p:txBody>
      </p:sp>
      <p:sp>
        <p:nvSpPr>
          <p:cNvPr id="11" name="Text 9"/>
          <p:cNvSpPr/>
          <p:nvPr/>
        </p:nvSpPr>
        <p:spPr>
          <a:xfrm>
            <a:off x="960120" y="2057400"/>
            <a:ext cx="4800600" cy="68580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ऑल ब्रांड्स, सिस्टम कॉन्फ़िग, मास्टर डेटा डिलीट / रीसेट, यूजर मैनेजमेंट</a:t>
            </a:r>
            <a:endParaRPr lang="en-US" sz="950" dirty="0"/>
          </a:p>
        </p:txBody>
      </p:sp>
      <p:sp>
        <p:nvSpPr>
          <p:cNvPr id="12" name="Shape 10"/>
          <p:cNvSpPr/>
          <p:nvPr/>
        </p:nvSpPr>
        <p:spPr>
          <a:xfrm>
            <a:off x="6172200" y="1463040"/>
            <a:ext cx="5257800" cy="1371600"/>
          </a:xfrm>
          <a:prstGeom prst="roundRect">
            <a:avLst>
              <a:gd name="adj" fmla="val 6667"/>
            </a:avLst>
          </a:prstGeom>
          <a:solidFill>
            <a:srgbClr val="F8FAFC"/>
          </a:solidFill>
          <a:ln w="12700">
            <a:solidFill>
              <a:srgbClr val="E2E8F0"/>
            </a:solidFill>
            <a:prstDash val="solid"/>
          </a:ln>
        </p:spPr>
      </p:sp>
      <p:sp>
        <p:nvSpPr>
          <p:cNvPr id="13" name="Shape 11"/>
          <p:cNvSpPr/>
          <p:nvPr/>
        </p:nvSpPr>
        <p:spPr>
          <a:xfrm>
            <a:off x="6400800" y="1645920"/>
            <a:ext cx="1737360" cy="320040"/>
          </a:xfrm>
          <a:prstGeom prst="roundRect">
            <a:avLst>
              <a:gd name="adj" fmla="val 17143"/>
            </a:avLst>
          </a:prstGeom>
          <a:solidFill>
            <a:srgbClr val="0F172A"/>
          </a:solidFill>
          <a:ln w="12700">
            <a:solidFill>
              <a:srgbClr val="333333"/>
            </a:solidFill>
            <a:prstDash val="solid"/>
          </a:ln>
        </p:spPr>
      </p:sp>
      <p:sp>
        <p:nvSpPr>
          <p:cNvPr id="14" name="Text 12"/>
          <p:cNvSpPr/>
          <p:nvPr/>
        </p:nvSpPr>
        <p:spPr>
          <a:xfrm>
            <a:off x="6400800" y="1645920"/>
            <a:ext cx="1737360" cy="32004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QA Manager</a:t>
            </a:r>
            <a:endParaRPr lang="en-US" sz="1000" dirty="0"/>
          </a:p>
        </p:txBody>
      </p:sp>
      <p:sp>
        <p:nvSpPr>
          <p:cNvPr id="15" name="Text 13"/>
          <p:cNvSpPr/>
          <p:nvPr/>
        </p:nvSpPr>
        <p:spPr>
          <a:xfrm>
            <a:off x="8275320" y="1645920"/>
            <a:ext cx="2926080" cy="320040"/>
          </a:xfrm>
          <a:prstGeom prst="rect">
            <a:avLst/>
          </a:prstGeom>
          <a:noFill/>
          <a:ln/>
        </p:spPr>
        <p:txBody>
          <a:bodyPr wrap="square" rtlCol="0" anchor="ctr"/>
          <a:lstStyle/>
          <a:p>
            <a:pPr indent="0" marL="0">
              <a:buNone/>
            </a:pPr>
            <a:r>
              <a:rPr lang="en-US" sz="1100" b="1" dirty="0">
                <a:solidFill>
                  <a:srgbClr val="2563EB"/>
                </a:solidFill>
                <a:latin typeface="Segoe UI" pitchFamily="34" charset="0"/>
                <a:ea typeface="Segoe UI" pitchFamily="34" charset="-122"/>
                <a:cs typeface="Segoe UI" pitchFamily="34" charset="-120"/>
              </a:rPr>
              <a:t>Kavita Deshmukh</a:t>
            </a:r>
            <a:endParaRPr lang="en-US" sz="1100" dirty="0"/>
          </a:p>
        </p:txBody>
      </p:sp>
      <p:sp>
        <p:nvSpPr>
          <p:cNvPr id="16" name="Text 14"/>
          <p:cNvSpPr/>
          <p:nvPr/>
        </p:nvSpPr>
        <p:spPr>
          <a:xfrm>
            <a:off x="6400800" y="2057400"/>
            <a:ext cx="4800600" cy="68580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PDI रिव्यू, डिफ़ेक्ट सुधार अप्रूवल, डिजिटल PDI सर्टिफ़िकेट जारी करना</a:t>
            </a:r>
            <a:endParaRPr lang="en-US" sz="950" dirty="0"/>
          </a:p>
        </p:txBody>
      </p:sp>
      <p:sp>
        <p:nvSpPr>
          <p:cNvPr id="17" name="Shape 15"/>
          <p:cNvSpPr/>
          <p:nvPr/>
        </p:nvSpPr>
        <p:spPr>
          <a:xfrm>
            <a:off x="731520" y="3017520"/>
            <a:ext cx="5257800" cy="1371600"/>
          </a:xfrm>
          <a:prstGeom prst="roundRect">
            <a:avLst>
              <a:gd name="adj" fmla="val 6667"/>
            </a:avLst>
          </a:prstGeom>
          <a:solidFill>
            <a:srgbClr val="F8FAFC"/>
          </a:solidFill>
          <a:ln w="12700">
            <a:solidFill>
              <a:srgbClr val="E2E8F0"/>
            </a:solidFill>
            <a:prstDash val="solid"/>
          </a:ln>
        </p:spPr>
      </p:sp>
      <p:sp>
        <p:nvSpPr>
          <p:cNvPr id="18" name="Shape 16"/>
          <p:cNvSpPr/>
          <p:nvPr/>
        </p:nvSpPr>
        <p:spPr>
          <a:xfrm>
            <a:off x="960120" y="3200400"/>
            <a:ext cx="1737360" cy="320040"/>
          </a:xfrm>
          <a:prstGeom prst="roundRect">
            <a:avLst>
              <a:gd name="adj" fmla="val 17143"/>
            </a:avLst>
          </a:prstGeom>
          <a:solidFill>
            <a:srgbClr val="0F172A"/>
          </a:solidFill>
          <a:ln w="12700">
            <a:solidFill>
              <a:srgbClr val="333333"/>
            </a:solidFill>
            <a:prstDash val="solid"/>
          </a:ln>
        </p:spPr>
      </p:sp>
      <p:sp>
        <p:nvSpPr>
          <p:cNvPr id="19" name="Text 17"/>
          <p:cNvSpPr/>
          <p:nvPr/>
        </p:nvSpPr>
        <p:spPr>
          <a:xfrm>
            <a:off x="960120" y="3200400"/>
            <a:ext cx="1737360" cy="32004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PDI Engineer</a:t>
            </a:r>
            <a:endParaRPr lang="en-US" sz="1000" dirty="0"/>
          </a:p>
        </p:txBody>
      </p:sp>
      <p:sp>
        <p:nvSpPr>
          <p:cNvPr id="20" name="Text 18"/>
          <p:cNvSpPr/>
          <p:nvPr/>
        </p:nvSpPr>
        <p:spPr>
          <a:xfrm>
            <a:off x="2834640" y="3200400"/>
            <a:ext cx="2926080" cy="320040"/>
          </a:xfrm>
          <a:prstGeom prst="rect">
            <a:avLst/>
          </a:prstGeom>
          <a:noFill/>
          <a:ln/>
        </p:spPr>
        <p:txBody>
          <a:bodyPr wrap="square" rtlCol="0" anchor="ctr"/>
          <a:lstStyle/>
          <a:p>
            <a:pPr indent="0" marL="0">
              <a:buNone/>
            </a:pPr>
            <a:r>
              <a:rPr lang="en-US" sz="1100" b="1" dirty="0">
                <a:solidFill>
                  <a:srgbClr val="2563EB"/>
                </a:solidFill>
                <a:latin typeface="Segoe UI" pitchFamily="34" charset="0"/>
                <a:ea typeface="Segoe UI" pitchFamily="34" charset="-122"/>
                <a:cs typeface="Segoe UI" pitchFamily="34" charset="-120"/>
              </a:rPr>
              <a:t>Vikram Malhotra</a:t>
            </a:r>
            <a:endParaRPr lang="en-US" sz="1100" dirty="0"/>
          </a:p>
        </p:txBody>
      </p:sp>
      <p:sp>
        <p:nvSpPr>
          <p:cNvPr id="21" name="Text 19"/>
          <p:cNvSpPr/>
          <p:nvPr/>
        </p:nvSpPr>
        <p:spPr>
          <a:xfrm>
            <a:off x="960120" y="3611880"/>
            <a:ext cx="4800600" cy="68580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यार्ड में गाड़ियों का फिजिकल इंस्पेक्शन, 7 चेकलिस्ट भरना, फोटो डिफेक्ट्स लॉग करना</a:t>
            </a:r>
            <a:endParaRPr lang="en-US" sz="950" dirty="0"/>
          </a:p>
        </p:txBody>
      </p:sp>
      <p:sp>
        <p:nvSpPr>
          <p:cNvPr id="22" name="Shape 20"/>
          <p:cNvSpPr/>
          <p:nvPr/>
        </p:nvSpPr>
        <p:spPr>
          <a:xfrm>
            <a:off x="6172200" y="3017520"/>
            <a:ext cx="5257800" cy="1371600"/>
          </a:xfrm>
          <a:prstGeom prst="roundRect">
            <a:avLst>
              <a:gd name="adj" fmla="val 6667"/>
            </a:avLst>
          </a:prstGeom>
          <a:solidFill>
            <a:srgbClr val="F8FAFC"/>
          </a:solidFill>
          <a:ln w="12700">
            <a:solidFill>
              <a:srgbClr val="E2E8F0"/>
            </a:solidFill>
            <a:prstDash val="solid"/>
          </a:ln>
        </p:spPr>
      </p:sp>
      <p:sp>
        <p:nvSpPr>
          <p:cNvPr id="23" name="Shape 21"/>
          <p:cNvSpPr/>
          <p:nvPr/>
        </p:nvSpPr>
        <p:spPr>
          <a:xfrm>
            <a:off x="6400800" y="3200400"/>
            <a:ext cx="1737360" cy="320040"/>
          </a:xfrm>
          <a:prstGeom prst="roundRect">
            <a:avLst>
              <a:gd name="adj" fmla="val 17143"/>
            </a:avLst>
          </a:prstGeom>
          <a:solidFill>
            <a:srgbClr val="0F172A"/>
          </a:solidFill>
          <a:ln w="12700">
            <a:solidFill>
              <a:srgbClr val="333333"/>
            </a:solidFill>
            <a:prstDash val="solid"/>
          </a:ln>
        </p:spPr>
      </p:sp>
      <p:sp>
        <p:nvSpPr>
          <p:cNvPr id="24" name="Text 22"/>
          <p:cNvSpPr/>
          <p:nvPr/>
        </p:nvSpPr>
        <p:spPr>
          <a:xfrm>
            <a:off x="6400800" y="3200400"/>
            <a:ext cx="1737360" cy="32004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Yard Supervisor</a:t>
            </a:r>
            <a:endParaRPr lang="en-US" sz="1000" dirty="0"/>
          </a:p>
        </p:txBody>
      </p:sp>
      <p:sp>
        <p:nvSpPr>
          <p:cNvPr id="25" name="Text 23"/>
          <p:cNvSpPr/>
          <p:nvPr/>
        </p:nvSpPr>
        <p:spPr>
          <a:xfrm>
            <a:off x="8275320" y="3200400"/>
            <a:ext cx="2926080" cy="320040"/>
          </a:xfrm>
          <a:prstGeom prst="rect">
            <a:avLst/>
          </a:prstGeom>
          <a:noFill/>
          <a:ln/>
        </p:spPr>
        <p:txBody>
          <a:bodyPr wrap="square" rtlCol="0" anchor="ctr"/>
          <a:lstStyle/>
          <a:p>
            <a:pPr indent="0" marL="0">
              <a:buNone/>
            </a:pPr>
            <a:r>
              <a:rPr lang="en-US" sz="1100" b="1" dirty="0">
                <a:solidFill>
                  <a:srgbClr val="2563EB"/>
                </a:solidFill>
                <a:latin typeface="Segoe UI" pitchFamily="34" charset="0"/>
                <a:ea typeface="Segoe UI" pitchFamily="34" charset="-122"/>
                <a:cs typeface="Segoe UI" pitchFamily="34" charset="-120"/>
              </a:rPr>
              <a:t>Suresh Patil</a:t>
            </a:r>
            <a:endParaRPr lang="en-US" sz="1100" dirty="0"/>
          </a:p>
        </p:txBody>
      </p:sp>
      <p:sp>
        <p:nvSpPr>
          <p:cNvPr id="26" name="Text 24"/>
          <p:cNvSpPr/>
          <p:nvPr/>
        </p:nvSpPr>
        <p:spPr>
          <a:xfrm>
            <a:off x="6400800" y="3611880"/>
            <a:ext cx="4800600" cy="68580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कैरियर अनलोडिंग, ट्रांजिट डैमेज रिपोर्टिंग, यार्ड बे मूवमेंट एवं गेट-इन</a:t>
            </a:r>
            <a:endParaRPr lang="en-US" sz="950" dirty="0"/>
          </a:p>
        </p:txBody>
      </p:sp>
      <p:sp>
        <p:nvSpPr>
          <p:cNvPr id="27" name="Shape 25"/>
          <p:cNvSpPr/>
          <p:nvPr/>
        </p:nvSpPr>
        <p:spPr>
          <a:xfrm>
            <a:off x="731520" y="4572000"/>
            <a:ext cx="5257800" cy="1371600"/>
          </a:xfrm>
          <a:prstGeom prst="roundRect">
            <a:avLst>
              <a:gd name="adj" fmla="val 6667"/>
            </a:avLst>
          </a:prstGeom>
          <a:solidFill>
            <a:srgbClr val="F8FAFC"/>
          </a:solidFill>
          <a:ln w="12700">
            <a:solidFill>
              <a:srgbClr val="E2E8F0"/>
            </a:solidFill>
            <a:prstDash val="solid"/>
          </a:ln>
        </p:spPr>
      </p:sp>
      <p:sp>
        <p:nvSpPr>
          <p:cNvPr id="28" name="Shape 26"/>
          <p:cNvSpPr/>
          <p:nvPr/>
        </p:nvSpPr>
        <p:spPr>
          <a:xfrm>
            <a:off x="960120" y="4754880"/>
            <a:ext cx="1737360" cy="320040"/>
          </a:xfrm>
          <a:prstGeom prst="roundRect">
            <a:avLst>
              <a:gd name="adj" fmla="val 17143"/>
            </a:avLst>
          </a:prstGeom>
          <a:solidFill>
            <a:srgbClr val="0F172A"/>
          </a:solidFill>
          <a:ln w="12700">
            <a:solidFill>
              <a:srgbClr val="333333"/>
            </a:solidFill>
            <a:prstDash val="solid"/>
          </a:ln>
        </p:spPr>
      </p:sp>
      <p:sp>
        <p:nvSpPr>
          <p:cNvPr id="29" name="Text 27"/>
          <p:cNvSpPr/>
          <p:nvPr/>
        </p:nvSpPr>
        <p:spPr>
          <a:xfrm>
            <a:off x="960120" y="4754880"/>
            <a:ext cx="1737360" cy="32004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Sales Consultant</a:t>
            </a:r>
            <a:endParaRPr lang="en-US" sz="1000" dirty="0"/>
          </a:p>
        </p:txBody>
      </p:sp>
      <p:sp>
        <p:nvSpPr>
          <p:cNvPr id="30" name="Text 28"/>
          <p:cNvSpPr/>
          <p:nvPr/>
        </p:nvSpPr>
        <p:spPr>
          <a:xfrm>
            <a:off x="2834640" y="4754880"/>
            <a:ext cx="2926080" cy="320040"/>
          </a:xfrm>
          <a:prstGeom prst="rect">
            <a:avLst/>
          </a:prstGeom>
          <a:noFill/>
          <a:ln/>
        </p:spPr>
        <p:txBody>
          <a:bodyPr wrap="square" rtlCol="0" anchor="ctr"/>
          <a:lstStyle/>
          <a:p>
            <a:pPr indent="0" marL="0">
              <a:buNone/>
            </a:pPr>
            <a:r>
              <a:rPr lang="en-US" sz="1100" b="1" dirty="0">
                <a:solidFill>
                  <a:srgbClr val="2563EB"/>
                </a:solidFill>
                <a:latin typeface="Segoe UI" pitchFamily="34" charset="0"/>
                <a:ea typeface="Segoe UI" pitchFamily="34" charset="-122"/>
                <a:cs typeface="Segoe UI" pitchFamily="34" charset="-120"/>
              </a:rPr>
              <a:t>Anita Joshi</a:t>
            </a:r>
            <a:endParaRPr lang="en-US" sz="1100" dirty="0"/>
          </a:p>
        </p:txBody>
      </p:sp>
      <p:sp>
        <p:nvSpPr>
          <p:cNvPr id="31" name="Text 29"/>
          <p:cNvSpPr/>
          <p:nvPr/>
        </p:nvSpPr>
        <p:spPr>
          <a:xfrm>
            <a:off x="960120" y="5166360"/>
            <a:ext cx="4800600" cy="68580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कस्टमर बुकिंग एंट्री, PBNA स्टॉक मैचिंग, VIN एलोकेशन, वाउचर प्रिंटिंग</a:t>
            </a:r>
            <a:endParaRPr lang="en-US" sz="950" dirty="0"/>
          </a:p>
        </p:txBody>
      </p:sp>
      <p:sp>
        <p:nvSpPr>
          <p:cNvPr id="32" name="Shape 30"/>
          <p:cNvSpPr/>
          <p:nvPr/>
        </p:nvSpPr>
        <p:spPr>
          <a:xfrm>
            <a:off x="6172200" y="4572000"/>
            <a:ext cx="5257800" cy="1371600"/>
          </a:xfrm>
          <a:prstGeom prst="roundRect">
            <a:avLst>
              <a:gd name="adj" fmla="val 6667"/>
            </a:avLst>
          </a:prstGeom>
          <a:solidFill>
            <a:srgbClr val="F8FAFC"/>
          </a:solidFill>
          <a:ln w="12700">
            <a:solidFill>
              <a:srgbClr val="E2E8F0"/>
            </a:solidFill>
            <a:prstDash val="solid"/>
          </a:ln>
        </p:spPr>
      </p:sp>
      <p:sp>
        <p:nvSpPr>
          <p:cNvPr id="33" name="Shape 31"/>
          <p:cNvSpPr/>
          <p:nvPr/>
        </p:nvSpPr>
        <p:spPr>
          <a:xfrm>
            <a:off x="6400800" y="4754880"/>
            <a:ext cx="1737360" cy="320040"/>
          </a:xfrm>
          <a:prstGeom prst="roundRect">
            <a:avLst>
              <a:gd name="adj" fmla="val 17143"/>
            </a:avLst>
          </a:prstGeom>
          <a:solidFill>
            <a:srgbClr val="0F172A"/>
          </a:solidFill>
          <a:ln w="12700">
            <a:solidFill>
              <a:srgbClr val="333333"/>
            </a:solidFill>
            <a:prstDash val="solid"/>
          </a:ln>
        </p:spPr>
      </p:sp>
      <p:sp>
        <p:nvSpPr>
          <p:cNvPr id="34" name="Text 32"/>
          <p:cNvSpPr/>
          <p:nvPr/>
        </p:nvSpPr>
        <p:spPr>
          <a:xfrm>
            <a:off x="6400800" y="4754880"/>
            <a:ext cx="1737360" cy="320040"/>
          </a:xfrm>
          <a:prstGeom prst="rect">
            <a:avLst/>
          </a:prstGeom>
          <a:noFill/>
          <a:ln/>
        </p:spPr>
        <p:txBody>
          <a:bodyPr wrap="square" rtlCol="0" anchor="ctr"/>
          <a:lstStyle/>
          <a:p>
            <a:pPr algn="ctr" indent="0" marL="0">
              <a:buNone/>
            </a:pPr>
            <a:r>
              <a:rPr lang="en-US" sz="1000" b="1" dirty="0">
                <a:solidFill>
                  <a:srgbClr val="FFFFFF"/>
                </a:solidFill>
                <a:latin typeface="Segoe UI" pitchFamily="34" charset="0"/>
                <a:ea typeface="Segoe UI" pitchFamily="34" charset="-122"/>
                <a:cs typeface="Segoe UI" pitchFamily="34" charset="-120"/>
              </a:rPr>
              <a:t>Accounts / Gate</a:t>
            </a:r>
            <a:endParaRPr lang="en-US" sz="1000" dirty="0"/>
          </a:p>
        </p:txBody>
      </p:sp>
      <p:sp>
        <p:nvSpPr>
          <p:cNvPr id="35" name="Text 33"/>
          <p:cNvSpPr/>
          <p:nvPr/>
        </p:nvSpPr>
        <p:spPr>
          <a:xfrm>
            <a:off x="8275320" y="4754880"/>
            <a:ext cx="2926080" cy="320040"/>
          </a:xfrm>
          <a:prstGeom prst="rect">
            <a:avLst/>
          </a:prstGeom>
          <a:noFill/>
          <a:ln/>
        </p:spPr>
        <p:txBody>
          <a:bodyPr wrap="square" rtlCol="0" anchor="ctr"/>
          <a:lstStyle/>
          <a:p>
            <a:pPr indent="0" marL="0">
              <a:buNone/>
            </a:pPr>
            <a:r>
              <a:rPr lang="en-US" sz="1100" b="1" dirty="0">
                <a:solidFill>
                  <a:srgbClr val="2563EB"/>
                </a:solidFill>
                <a:latin typeface="Segoe UI" pitchFamily="34" charset="0"/>
                <a:ea typeface="Segoe UI" pitchFamily="34" charset="-122"/>
                <a:cs typeface="Segoe UI" pitchFamily="34" charset="-120"/>
              </a:rPr>
              <a:t>Finance &amp; Security</a:t>
            </a:r>
            <a:endParaRPr lang="en-US" sz="1100" dirty="0"/>
          </a:p>
        </p:txBody>
      </p:sp>
      <p:sp>
        <p:nvSpPr>
          <p:cNvPr id="36" name="Text 34"/>
          <p:cNvSpPr/>
          <p:nvPr/>
        </p:nvSpPr>
        <p:spPr>
          <a:xfrm>
            <a:off x="6400800" y="5166360"/>
            <a:ext cx="4800600" cy="685800"/>
          </a:xfrm>
          <a:prstGeom prst="rect">
            <a:avLst/>
          </a:prstGeom>
          <a:noFill/>
          <a:ln/>
        </p:spPr>
        <p:txBody>
          <a:bodyPr wrap="square" rtlCol="0" anchor="ctr"/>
          <a:lstStyle/>
          <a:p>
            <a:pPr indent="0" marL="0">
              <a:lnSpc>
                <a:spcPts val="1400"/>
              </a:lnSpc>
              <a:buNone/>
            </a:pPr>
            <a:r>
              <a:rPr lang="en-US" sz="950" dirty="0">
                <a:solidFill>
                  <a:srgbClr val="475569"/>
                </a:solidFill>
                <a:latin typeface="Segoe UI" pitchFamily="34" charset="0"/>
                <a:ea typeface="Segoe UI" pitchFamily="34" charset="-122"/>
                <a:cs typeface="Segoe UI" pitchFamily="34" charset="-120"/>
              </a:rPr>
              <a:t>टैक्स इनवॉइस, डिलीवरी चालान जेनरेशन, QR गेटपास वेरिफिकेशन</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31520" y="365760"/>
            <a:ext cx="219456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365760"/>
            <a:ext cx="2194560" cy="292608"/>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STRATEGIC ROI &amp; VALUE</a:t>
            </a:r>
            <a:endParaRPr lang="en-US" sz="900" dirty="0"/>
          </a:p>
        </p:txBody>
      </p:sp>
      <p:sp>
        <p:nvSpPr>
          <p:cNvPr id="4" name="Text 2"/>
          <p:cNvSpPr/>
          <p:nvPr/>
        </p:nvSpPr>
        <p:spPr>
          <a:xfrm>
            <a:off x="731520" y="713232"/>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डीलरशिप को होने वाले शीर्ष 7 व्यापारिक फायदे (Top 7 Business Benefits)</a:t>
            </a:r>
            <a:endParaRPr lang="en-US" sz="2000" dirty="0"/>
          </a:p>
        </p:txBody>
      </p:sp>
      <p:sp>
        <p:nvSpPr>
          <p:cNvPr id="5" name="Shape 3"/>
          <p:cNvSpPr/>
          <p:nvPr/>
        </p:nvSpPr>
        <p:spPr>
          <a:xfrm>
            <a:off x="731520" y="1261872"/>
            <a:ext cx="10725912" cy="27432"/>
          </a:xfrm>
          <a:prstGeom prst="rect">
            <a:avLst/>
          </a:prstGeom>
          <a:solidFill>
            <a:srgbClr val="E2E8F0"/>
          </a:solidFill>
          <a:ln w="12700">
            <a:solidFill>
              <a:srgbClr val="333333"/>
            </a:solidFill>
            <a:prstDash val="solid"/>
          </a:ln>
        </p:spPr>
      </p:sp>
      <p:sp>
        <p:nvSpPr>
          <p:cNvPr id="6" name="Text 4"/>
          <p:cNvSpPr/>
          <p:nvPr/>
        </p:nvSpPr>
        <p:spPr>
          <a:xfrm>
            <a:off x="731520" y="6400800"/>
            <a:ext cx="10725912"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AutoPrime PDI Management Platform  |  Slide 13</a:t>
            </a:r>
            <a:endParaRPr lang="en-US" sz="900" dirty="0"/>
          </a:p>
        </p:txBody>
      </p:sp>
      <p:sp>
        <p:nvSpPr>
          <p:cNvPr id="7" name="Shape 5"/>
          <p:cNvSpPr/>
          <p:nvPr/>
        </p:nvSpPr>
        <p:spPr>
          <a:xfrm>
            <a:off x="731520" y="1463040"/>
            <a:ext cx="5257800" cy="1051560"/>
          </a:xfrm>
          <a:prstGeom prst="roundRect">
            <a:avLst>
              <a:gd name="adj" fmla="val 8696"/>
            </a:avLst>
          </a:prstGeom>
          <a:solidFill>
            <a:srgbClr val="F8FAFC"/>
          </a:solidFill>
          <a:ln w="12700">
            <a:solidFill>
              <a:srgbClr val="E2E8F0"/>
            </a:solidFill>
            <a:prstDash val="solid"/>
          </a:ln>
        </p:spPr>
      </p:sp>
      <p:sp>
        <p:nvSpPr>
          <p:cNvPr id="8" name="Shape 6"/>
          <p:cNvSpPr/>
          <p:nvPr/>
        </p:nvSpPr>
        <p:spPr>
          <a:xfrm>
            <a:off x="914400" y="1645920"/>
            <a:ext cx="594360" cy="594360"/>
          </a:xfrm>
          <a:prstGeom prst="roundRect">
            <a:avLst>
              <a:gd name="adj" fmla="val 12308"/>
            </a:avLst>
          </a:prstGeom>
          <a:solidFill>
            <a:srgbClr val="2563EB"/>
          </a:solidFill>
          <a:ln w="12700">
            <a:solidFill>
              <a:srgbClr val="333333"/>
            </a:solidFill>
            <a:prstDash val="solid"/>
          </a:ln>
        </p:spPr>
      </p:sp>
      <p:sp>
        <p:nvSpPr>
          <p:cNvPr id="9" name="Text 7"/>
          <p:cNvSpPr/>
          <p:nvPr/>
        </p:nvSpPr>
        <p:spPr>
          <a:xfrm>
            <a:off x="914400" y="1645920"/>
            <a:ext cx="594360" cy="5943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01</a:t>
            </a:r>
            <a:endParaRPr lang="en-US" sz="1300" dirty="0"/>
          </a:p>
        </p:txBody>
      </p:sp>
      <p:sp>
        <p:nvSpPr>
          <p:cNvPr id="10" name="Text 8"/>
          <p:cNvSpPr/>
          <p:nvPr/>
        </p:nvSpPr>
        <p:spPr>
          <a:xfrm>
            <a:off x="1645920" y="1600200"/>
            <a:ext cx="416052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100% Transit Claim Recovery</a:t>
            </a:r>
            <a:endParaRPr lang="en-US" sz="1100" dirty="0"/>
          </a:p>
        </p:txBody>
      </p:sp>
      <p:sp>
        <p:nvSpPr>
          <p:cNvPr id="11" name="Text 9"/>
          <p:cNvSpPr/>
          <p:nvPr/>
        </p:nvSpPr>
        <p:spPr>
          <a:xfrm>
            <a:off x="1645920" y="1874520"/>
            <a:ext cx="4160520" cy="548640"/>
          </a:xfrm>
          <a:prstGeom prst="rect">
            <a:avLst/>
          </a:prstGeom>
          <a:noFill/>
          <a:ln/>
        </p:spPr>
        <p:txBody>
          <a:bodyPr wrap="square" rtlCol="0" anchor="ctr"/>
          <a:lstStyle/>
          <a:p>
            <a:pPr indent="0" marL="0">
              <a:lnSpc>
                <a:spcPts val="1300"/>
              </a:lnSpc>
              <a:buNone/>
            </a:pPr>
            <a:r>
              <a:rPr lang="en-US" sz="900" dirty="0">
                <a:solidFill>
                  <a:srgbClr val="475569"/>
                </a:solidFill>
                <a:latin typeface="Segoe UI" pitchFamily="34" charset="0"/>
                <a:ea typeface="Segoe UI" pitchFamily="34" charset="-122"/>
                <a:cs typeface="Segoe UI" pitchFamily="34" charset="-120"/>
              </a:rPr>
              <a:t>अनलोडिंग के समय हुआ कोई भी नुकसान ट्रांसपोर्टर/OEM से तुरंत रिकवर होता है। लाखों रुपये की सीधी बचत।</a:t>
            </a:r>
            <a:endParaRPr lang="en-US" sz="900" dirty="0"/>
          </a:p>
        </p:txBody>
      </p:sp>
      <p:sp>
        <p:nvSpPr>
          <p:cNvPr id="12" name="Shape 10"/>
          <p:cNvSpPr/>
          <p:nvPr/>
        </p:nvSpPr>
        <p:spPr>
          <a:xfrm>
            <a:off x="731520" y="2606040"/>
            <a:ext cx="5257800" cy="1051560"/>
          </a:xfrm>
          <a:prstGeom prst="roundRect">
            <a:avLst>
              <a:gd name="adj" fmla="val 8696"/>
            </a:avLst>
          </a:prstGeom>
          <a:solidFill>
            <a:srgbClr val="F8FAFC"/>
          </a:solidFill>
          <a:ln w="12700">
            <a:solidFill>
              <a:srgbClr val="E2E8F0"/>
            </a:solidFill>
            <a:prstDash val="solid"/>
          </a:ln>
        </p:spPr>
      </p:sp>
      <p:sp>
        <p:nvSpPr>
          <p:cNvPr id="13" name="Shape 11"/>
          <p:cNvSpPr/>
          <p:nvPr/>
        </p:nvSpPr>
        <p:spPr>
          <a:xfrm>
            <a:off x="914400" y="2788920"/>
            <a:ext cx="594360" cy="594360"/>
          </a:xfrm>
          <a:prstGeom prst="roundRect">
            <a:avLst>
              <a:gd name="adj" fmla="val 12308"/>
            </a:avLst>
          </a:prstGeom>
          <a:solidFill>
            <a:srgbClr val="2563EB"/>
          </a:solidFill>
          <a:ln w="12700">
            <a:solidFill>
              <a:srgbClr val="333333"/>
            </a:solidFill>
            <a:prstDash val="solid"/>
          </a:ln>
        </p:spPr>
      </p:sp>
      <p:sp>
        <p:nvSpPr>
          <p:cNvPr id="14" name="Text 12"/>
          <p:cNvSpPr/>
          <p:nvPr/>
        </p:nvSpPr>
        <p:spPr>
          <a:xfrm>
            <a:off x="914400" y="2788920"/>
            <a:ext cx="594360" cy="5943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02</a:t>
            </a:r>
            <a:endParaRPr lang="en-US" sz="1300" dirty="0"/>
          </a:p>
        </p:txBody>
      </p:sp>
      <p:sp>
        <p:nvSpPr>
          <p:cNvPr id="15" name="Text 13"/>
          <p:cNvSpPr/>
          <p:nvPr/>
        </p:nvSpPr>
        <p:spPr>
          <a:xfrm>
            <a:off x="1645920" y="2743200"/>
            <a:ext cx="416052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Zero Dual-VIN Allocations</a:t>
            </a:r>
            <a:endParaRPr lang="en-US" sz="1100" dirty="0"/>
          </a:p>
        </p:txBody>
      </p:sp>
      <p:sp>
        <p:nvSpPr>
          <p:cNvPr id="16" name="Text 14"/>
          <p:cNvSpPr/>
          <p:nvPr/>
        </p:nvSpPr>
        <p:spPr>
          <a:xfrm>
            <a:off x="1645920" y="3017520"/>
            <a:ext cx="4160520" cy="548640"/>
          </a:xfrm>
          <a:prstGeom prst="rect">
            <a:avLst/>
          </a:prstGeom>
          <a:noFill/>
          <a:ln/>
        </p:spPr>
        <p:txBody>
          <a:bodyPr wrap="square" rtlCol="0" anchor="ctr"/>
          <a:lstStyle/>
          <a:p>
            <a:pPr indent="0" marL="0">
              <a:lnSpc>
                <a:spcPts val="1300"/>
              </a:lnSpc>
              <a:buNone/>
            </a:pPr>
            <a:r>
              <a:rPr lang="en-US" sz="900" dirty="0">
                <a:solidFill>
                  <a:srgbClr val="475569"/>
                </a:solidFill>
                <a:latin typeface="Segoe UI" pitchFamily="34" charset="0"/>
                <a:ea typeface="Segoe UI" pitchFamily="34" charset="-122"/>
                <a:cs typeface="Segoe UI" pitchFamily="34" charset="-120"/>
              </a:rPr>
              <a:t>एक गाड़ी दो ग्राहकों को कभी नहीं जा सकती। मानवीय गलतियाँ और कानूनी विवाद शून्य।</a:t>
            </a:r>
            <a:endParaRPr lang="en-US" sz="900" dirty="0"/>
          </a:p>
        </p:txBody>
      </p:sp>
      <p:sp>
        <p:nvSpPr>
          <p:cNvPr id="17" name="Shape 15"/>
          <p:cNvSpPr/>
          <p:nvPr/>
        </p:nvSpPr>
        <p:spPr>
          <a:xfrm>
            <a:off x="731520" y="3749040"/>
            <a:ext cx="5257800" cy="1051560"/>
          </a:xfrm>
          <a:prstGeom prst="roundRect">
            <a:avLst>
              <a:gd name="adj" fmla="val 8696"/>
            </a:avLst>
          </a:prstGeom>
          <a:solidFill>
            <a:srgbClr val="F8FAFC"/>
          </a:solidFill>
          <a:ln w="12700">
            <a:solidFill>
              <a:srgbClr val="E2E8F0"/>
            </a:solidFill>
            <a:prstDash val="solid"/>
          </a:ln>
        </p:spPr>
      </p:sp>
      <p:sp>
        <p:nvSpPr>
          <p:cNvPr id="18" name="Shape 16"/>
          <p:cNvSpPr/>
          <p:nvPr/>
        </p:nvSpPr>
        <p:spPr>
          <a:xfrm>
            <a:off x="914400" y="3931920"/>
            <a:ext cx="594360" cy="594360"/>
          </a:xfrm>
          <a:prstGeom prst="roundRect">
            <a:avLst>
              <a:gd name="adj" fmla="val 12308"/>
            </a:avLst>
          </a:prstGeom>
          <a:solidFill>
            <a:srgbClr val="2563EB"/>
          </a:solidFill>
          <a:ln w="12700">
            <a:solidFill>
              <a:srgbClr val="333333"/>
            </a:solidFill>
            <a:prstDash val="solid"/>
          </a:ln>
        </p:spPr>
      </p:sp>
      <p:sp>
        <p:nvSpPr>
          <p:cNvPr id="19" name="Text 17"/>
          <p:cNvSpPr/>
          <p:nvPr/>
        </p:nvSpPr>
        <p:spPr>
          <a:xfrm>
            <a:off x="914400" y="3931920"/>
            <a:ext cx="594360" cy="5943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03</a:t>
            </a:r>
            <a:endParaRPr lang="en-US" sz="1300" dirty="0"/>
          </a:p>
        </p:txBody>
      </p:sp>
      <p:sp>
        <p:nvSpPr>
          <p:cNvPr id="20" name="Text 18"/>
          <p:cNvSpPr/>
          <p:nvPr/>
        </p:nvSpPr>
        <p:spPr>
          <a:xfrm>
            <a:off x="1645920" y="3886200"/>
            <a:ext cx="416052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40% Faster Delivery Turnaround</a:t>
            </a:r>
            <a:endParaRPr lang="en-US" sz="1100" dirty="0"/>
          </a:p>
        </p:txBody>
      </p:sp>
      <p:sp>
        <p:nvSpPr>
          <p:cNvPr id="21" name="Text 19"/>
          <p:cNvSpPr/>
          <p:nvPr/>
        </p:nvSpPr>
        <p:spPr>
          <a:xfrm>
            <a:off x="1645920" y="4160520"/>
            <a:ext cx="4160520" cy="548640"/>
          </a:xfrm>
          <a:prstGeom prst="rect">
            <a:avLst/>
          </a:prstGeom>
          <a:noFill/>
          <a:ln/>
        </p:spPr>
        <p:txBody>
          <a:bodyPr wrap="square" rtlCol="0" anchor="ctr"/>
          <a:lstStyle/>
          <a:p>
            <a:pPr indent="0" marL="0">
              <a:lnSpc>
                <a:spcPts val="1300"/>
              </a:lnSpc>
              <a:buNone/>
            </a:pPr>
            <a:r>
              <a:rPr lang="en-US" sz="900" dirty="0">
                <a:solidFill>
                  <a:srgbClr val="475569"/>
                </a:solidFill>
                <a:latin typeface="Segoe UI" pitchFamily="34" charset="0"/>
                <a:ea typeface="Segoe UI" pitchFamily="34" charset="-122"/>
                <a:cs typeface="Segoe UI" pitchFamily="34" charset="-120"/>
              </a:rPr>
              <a:t>पेपरलेस चेकिंग और 1-क्लिक चालान से गाड़ी डिलीवरी का समय 4 दिन से घटकर 24 घंटे रह जाता है।</a:t>
            </a:r>
            <a:endParaRPr lang="en-US" sz="900" dirty="0"/>
          </a:p>
        </p:txBody>
      </p:sp>
      <p:sp>
        <p:nvSpPr>
          <p:cNvPr id="22" name="Shape 20"/>
          <p:cNvSpPr/>
          <p:nvPr/>
        </p:nvSpPr>
        <p:spPr>
          <a:xfrm>
            <a:off x="731520" y="4892040"/>
            <a:ext cx="5257800" cy="1051560"/>
          </a:xfrm>
          <a:prstGeom prst="roundRect">
            <a:avLst>
              <a:gd name="adj" fmla="val 8696"/>
            </a:avLst>
          </a:prstGeom>
          <a:solidFill>
            <a:srgbClr val="F8FAFC"/>
          </a:solidFill>
          <a:ln w="12700">
            <a:solidFill>
              <a:srgbClr val="E2E8F0"/>
            </a:solidFill>
            <a:prstDash val="solid"/>
          </a:ln>
        </p:spPr>
      </p:sp>
      <p:sp>
        <p:nvSpPr>
          <p:cNvPr id="23" name="Shape 21"/>
          <p:cNvSpPr/>
          <p:nvPr/>
        </p:nvSpPr>
        <p:spPr>
          <a:xfrm>
            <a:off x="914400" y="5074920"/>
            <a:ext cx="594360" cy="594360"/>
          </a:xfrm>
          <a:prstGeom prst="roundRect">
            <a:avLst>
              <a:gd name="adj" fmla="val 12308"/>
            </a:avLst>
          </a:prstGeom>
          <a:solidFill>
            <a:srgbClr val="2563EB"/>
          </a:solidFill>
          <a:ln w="12700">
            <a:solidFill>
              <a:srgbClr val="333333"/>
            </a:solidFill>
            <a:prstDash val="solid"/>
          </a:ln>
        </p:spPr>
      </p:sp>
      <p:sp>
        <p:nvSpPr>
          <p:cNvPr id="24" name="Text 22"/>
          <p:cNvSpPr/>
          <p:nvPr/>
        </p:nvSpPr>
        <p:spPr>
          <a:xfrm>
            <a:off x="914400" y="5074920"/>
            <a:ext cx="594360" cy="5943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04</a:t>
            </a:r>
            <a:endParaRPr lang="en-US" sz="1300" dirty="0"/>
          </a:p>
        </p:txBody>
      </p:sp>
      <p:sp>
        <p:nvSpPr>
          <p:cNvPr id="25" name="Text 23"/>
          <p:cNvSpPr/>
          <p:nvPr/>
        </p:nvSpPr>
        <p:spPr>
          <a:xfrm>
            <a:off x="1645920" y="5029200"/>
            <a:ext cx="416052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Zero Defect Customer Deliveries</a:t>
            </a:r>
            <a:endParaRPr lang="en-US" sz="1100" dirty="0"/>
          </a:p>
        </p:txBody>
      </p:sp>
      <p:sp>
        <p:nvSpPr>
          <p:cNvPr id="26" name="Text 24"/>
          <p:cNvSpPr/>
          <p:nvPr/>
        </p:nvSpPr>
        <p:spPr>
          <a:xfrm>
            <a:off x="1645920" y="5303520"/>
            <a:ext cx="4160520" cy="548640"/>
          </a:xfrm>
          <a:prstGeom prst="rect">
            <a:avLst/>
          </a:prstGeom>
          <a:noFill/>
          <a:ln/>
        </p:spPr>
        <p:txBody>
          <a:bodyPr wrap="square" rtlCol="0" anchor="ctr"/>
          <a:lstStyle/>
          <a:p>
            <a:pPr indent="0" marL="0">
              <a:lnSpc>
                <a:spcPts val="1300"/>
              </a:lnSpc>
              <a:buNone/>
            </a:pPr>
            <a:r>
              <a:rPr lang="en-US" sz="900" dirty="0">
                <a:solidFill>
                  <a:srgbClr val="475569"/>
                </a:solidFill>
                <a:latin typeface="Segoe UI" pitchFamily="34" charset="0"/>
                <a:ea typeface="Segoe UI" pitchFamily="34" charset="-122"/>
                <a:cs typeface="Segoe UI" pitchFamily="34" charset="-120"/>
              </a:rPr>
              <a:t>PDI + QA + Rework प्रक्रिया से हर गाड़ी 100% सही डिलीवर होती है, जिससे कस्टमर सैटिस्फैक्शन 5-स्टार रहता है।</a:t>
            </a:r>
            <a:endParaRPr lang="en-US" sz="900" dirty="0"/>
          </a:p>
        </p:txBody>
      </p:sp>
      <p:sp>
        <p:nvSpPr>
          <p:cNvPr id="27" name="Shape 25"/>
          <p:cNvSpPr/>
          <p:nvPr/>
        </p:nvSpPr>
        <p:spPr>
          <a:xfrm>
            <a:off x="6172200" y="1463040"/>
            <a:ext cx="5257800" cy="1051560"/>
          </a:xfrm>
          <a:prstGeom prst="roundRect">
            <a:avLst>
              <a:gd name="adj" fmla="val 8696"/>
            </a:avLst>
          </a:prstGeom>
          <a:solidFill>
            <a:srgbClr val="F8FAFC"/>
          </a:solidFill>
          <a:ln w="12700">
            <a:solidFill>
              <a:srgbClr val="E2E8F0"/>
            </a:solidFill>
            <a:prstDash val="solid"/>
          </a:ln>
        </p:spPr>
      </p:sp>
      <p:sp>
        <p:nvSpPr>
          <p:cNvPr id="28" name="Shape 26"/>
          <p:cNvSpPr/>
          <p:nvPr/>
        </p:nvSpPr>
        <p:spPr>
          <a:xfrm>
            <a:off x="6355080" y="1645920"/>
            <a:ext cx="594360" cy="594360"/>
          </a:xfrm>
          <a:prstGeom prst="roundRect">
            <a:avLst>
              <a:gd name="adj" fmla="val 12308"/>
            </a:avLst>
          </a:prstGeom>
          <a:solidFill>
            <a:srgbClr val="2563EB"/>
          </a:solidFill>
          <a:ln w="12700">
            <a:solidFill>
              <a:srgbClr val="333333"/>
            </a:solidFill>
            <a:prstDash val="solid"/>
          </a:ln>
        </p:spPr>
      </p:sp>
      <p:sp>
        <p:nvSpPr>
          <p:cNvPr id="29" name="Text 27"/>
          <p:cNvSpPr/>
          <p:nvPr/>
        </p:nvSpPr>
        <p:spPr>
          <a:xfrm>
            <a:off x="6355080" y="1645920"/>
            <a:ext cx="594360" cy="5943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05</a:t>
            </a:r>
            <a:endParaRPr lang="en-US" sz="1300" dirty="0"/>
          </a:p>
        </p:txBody>
      </p:sp>
      <p:sp>
        <p:nvSpPr>
          <p:cNvPr id="30" name="Text 28"/>
          <p:cNvSpPr/>
          <p:nvPr/>
        </p:nvSpPr>
        <p:spPr>
          <a:xfrm>
            <a:off x="7086600" y="1600200"/>
            <a:ext cx="416052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Theft-Proof Digital Gatepass</a:t>
            </a:r>
            <a:endParaRPr lang="en-US" sz="1100" dirty="0"/>
          </a:p>
        </p:txBody>
      </p:sp>
      <p:sp>
        <p:nvSpPr>
          <p:cNvPr id="31" name="Text 29"/>
          <p:cNvSpPr/>
          <p:nvPr/>
        </p:nvSpPr>
        <p:spPr>
          <a:xfrm>
            <a:off x="7086600" y="1874520"/>
            <a:ext cx="4160520" cy="548640"/>
          </a:xfrm>
          <a:prstGeom prst="rect">
            <a:avLst/>
          </a:prstGeom>
          <a:noFill/>
          <a:ln/>
        </p:spPr>
        <p:txBody>
          <a:bodyPr wrap="square" rtlCol="0" anchor="ctr"/>
          <a:lstStyle/>
          <a:p>
            <a:pPr indent="0" marL="0">
              <a:lnSpc>
                <a:spcPts val="1300"/>
              </a:lnSpc>
              <a:buNone/>
            </a:pPr>
            <a:r>
              <a:rPr lang="en-US" sz="900" dirty="0">
                <a:solidFill>
                  <a:srgbClr val="475569"/>
                </a:solidFill>
                <a:latin typeface="Segoe UI" pitchFamily="34" charset="0"/>
                <a:ea typeface="Segoe UI" pitchFamily="34" charset="-122"/>
                <a:cs typeface="Segoe UI" pitchFamily="34" charset="-120"/>
              </a:rPr>
              <a:t>QR कोडेड सुरक्षा गेटपास के बिना कोई भी गाड़ी यार्ड से बाहर नहीं जा सकती। पूर्ण सुरक्षा।</a:t>
            </a:r>
            <a:endParaRPr lang="en-US" sz="900" dirty="0"/>
          </a:p>
        </p:txBody>
      </p:sp>
      <p:sp>
        <p:nvSpPr>
          <p:cNvPr id="32" name="Shape 30"/>
          <p:cNvSpPr/>
          <p:nvPr/>
        </p:nvSpPr>
        <p:spPr>
          <a:xfrm>
            <a:off x="6172200" y="2606040"/>
            <a:ext cx="5257800" cy="1051560"/>
          </a:xfrm>
          <a:prstGeom prst="roundRect">
            <a:avLst>
              <a:gd name="adj" fmla="val 8696"/>
            </a:avLst>
          </a:prstGeom>
          <a:solidFill>
            <a:srgbClr val="F8FAFC"/>
          </a:solidFill>
          <a:ln w="12700">
            <a:solidFill>
              <a:srgbClr val="E2E8F0"/>
            </a:solidFill>
            <a:prstDash val="solid"/>
          </a:ln>
        </p:spPr>
      </p:sp>
      <p:sp>
        <p:nvSpPr>
          <p:cNvPr id="33" name="Shape 31"/>
          <p:cNvSpPr/>
          <p:nvPr/>
        </p:nvSpPr>
        <p:spPr>
          <a:xfrm>
            <a:off x="6355080" y="2788920"/>
            <a:ext cx="594360" cy="594360"/>
          </a:xfrm>
          <a:prstGeom prst="roundRect">
            <a:avLst>
              <a:gd name="adj" fmla="val 12308"/>
            </a:avLst>
          </a:prstGeom>
          <a:solidFill>
            <a:srgbClr val="2563EB"/>
          </a:solidFill>
          <a:ln w="12700">
            <a:solidFill>
              <a:srgbClr val="333333"/>
            </a:solidFill>
            <a:prstDash val="solid"/>
          </a:ln>
        </p:spPr>
      </p:sp>
      <p:sp>
        <p:nvSpPr>
          <p:cNvPr id="34" name="Text 32"/>
          <p:cNvSpPr/>
          <p:nvPr/>
        </p:nvSpPr>
        <p:spPr>
          <a:xfrm>
            <a:off x="6355080" y="2788920"/>
            <a:ext cx="594360" cy="5943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06</a:t>
            </a:r>
            <a:endParaRPr lang="en-US" sz="1300" dirty="0"/>
          </a:p>
        </p:txBody>
      </p:sp>
      <p:sp>
        <p:nvSpPr>
          <p:cNvPr id="35" name="Text 33"/>
          <p:cNvSpPr/>
          <p:nvPr/>
        </p:nvSpPr>
        <p:spPr>
          <a:xfrm>
            <a:off x="7086600" y="2743200"/>
            <a:ext cx="416052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Holding Cost Reduction by 25%</a:t>
            </a:r>
            <a:endParaRPr lang="en-US" sz="1100" dirty="0"/>
          </a:p>
        </p:txBody>
      </p:sp>
      <p:sp>
        <p:nvSpPr>
          <p:cNvPr id="36" name="Text 34"/>
          <p:cNvSpPr/>
          <p:nvPr/>
        </p:nvSpPr>
        <p:spPr>
          <a:xfrm>
            <a:off x="7086600" y="3017520"/>
            <a:ext cx="4160520" cy="548640"/>
          </a:xfrm>
          <a:prstGeom prst="rect">
            <a:avLst/>
          </a:prstGeom>
          <a:noFill/>
          <a:ln/>
        </p:spPr>
        <p:txBody>
          <a:bodyPr wrap="square" rtlCol="0" anchor="ctr"/>
          <a:lstStyle/>
          <a:p>
            <a:pPr indent="0" marL="0">
              <a:lnSpc>
                <a:spcPts val="1300"/>
              </a:lnSpc>
              <a:buNone/>
            </a:pPr>
            <a:r>
              <a:rPr lang="en-US" sz="900" dirty="0">
                <a:solidFill>
                  <a:srgbClr val="475569"/>
                </a:solidFill>
                <a:latin typeface="Segoe UI" pitchFamily="34" charset="0"/>
                <a:ea typeface="Segoe UI" pitchFamily="34" charset="-122"/>
                <a:cs typeface="Segoe UI" pitchFamily="34" charset="-120"/>
              </a:rPr>
              <a:t>स्मार्ट PBNA मैचिंग से यार्ड में खड़ी गाड़ियों को तुरंत ग्राहक मिल जाता है, जिससे ब्याज खर्च घटता है।</a:t>
            </a:r>
            <a:endParaRPr lang="en-US" sz="900" dirty="0"/>
          </a:p>
        </p:txBody>
      </p:sp>
      <p:sp>
        <p:nvSpPr>
          <p:cNvPr id="37" name="Shape 35"/>
          <p:cNvSpPr/>
          <p:nvPr/>
        </p:nvSpPr>
        <p:spPr>
          <a:xfrm>
            <a:off x="6172200" y="3749040"/>
            <a:ext cx="5257800" cy="1051560"/>
          </a:xfrm>
          <a:prstGeom prst="roundRect">
            <a:avLst>
              <a:gd name="adj" fmla="val 8696"/>
            </a:avLst>
          </a:prstGeom>
          <a:solidFill>
            <a:srgbClr val="F8FAFC"/>
          </a:solidFill>
          <a:ln w="12700">
            <a:solidFill>
              <a:srgbClr val="E2E8F0"/>
            </a:solidFill>
            <a:prstDash val="solid"/>
          </a:ln>
        </p:spPr>
      </p:sp>
      <p:sp>
        <p:nvSpPr>
          <p:cNvPr id="38" name="Shape 36"/>
          <p:cNvSpPr/>
          <p:nvPr/>
        </p:nvSpPr>
        <p:spPr>
          <a:xfrm>
            <a:off x="6355080" y="3931920"/>
            <a:ext cx="594360" cy="594360"/>
          </a:xfrm>
          <a:prstGeom prst="roundRect">
            <a:avLst>
              <a:gd name="adj" fmla="val 12308"/>
            </a:avLst>
          </a:prstGeom>
          <a:solidFill>
            <a:srgbClr val="2563EB"/>
          </a:solidFill>
          <a:ln w="12700">
            <a:solidFill>
              <a:srgbClr val="333333"/>
            </a:solidFill>
            <a:prstDash val="solid"/>
          </a:ln>
        </p:spPr>
      </p:sp>
      <p:sp>
        <p:nvSpPr>
          <p:cNvPr id="39" name="Text 37"/>
          <p:cNvSpPr/>
          <p:nvPr/>
        </p:nvSpPr>
        <p:spPr>
          <a:xfrm>
            <a:off x="6355080" y="3931920"/>
            <a:ext cx="594360" cy="59436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07</a:t>
            </a:r>
            <a:endParaRPr lang="en-US" sz="1300" dirty="0"/>
          </a:p>
        </p:txBody>
      </p:sp>
      <p:sp>
        <p:nvSpPr>
          <p:cNvPr id="40" name="Text 38"/>
          <p:cNvSpPr/>
          <p:nvPr/>
        </p:nvSpPr>
        <p:spPr>
          <a:xfrm>
            <a:off x="7086600" y="3886200"/>
            <a:ext cx="4160520" cy="2743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100% Offline-Ready Resilient Architecture</a:t>
            </a:r>
            <a:endParaRPr lang="en-US" sz="1100" dirty="0"/>
          </a:p>
        </p:txBody>
      </p:sp>
      <p:sp>
        <p:nvSpPr>
          <p:cNvPr id="41" name="Text 39"/>
          <p:cNvSpPr/>
          <p:nvPr/>
        </p:nvSpPr>
        <p:spPr>
          <a:xfrm>
            <a:off x="7086600" y="4160520"/>
            <a:ext cx="4160520" cy="548640"/>
          </a:xfrm>
          <a:prstGeom prst="rect">
            <a:avLst/>
          </a:prstGeom>
          <a:noFill/>
          <a:ln/>
        </p:spPr>
        <p:txBody>
          <a:bodyPr wrap="square" rtlCol="0" anchor="ctr"/>
          <a:lstStyle/>
          <a:p>
            <a:pPr indent="0" marL="0">
              <a:lnSpc>
                <a:spcPts val="1300"/>
              </a:lnSpc>
              <a:buNone/>
            </a:pPr>
            <a:r>
              <a:rPr lang="en-US" sz="900" dirty="0">
                <a:solidFill>
                  <a:srgbClr val="475569"/>
                </a:solidFill>
                <a:latin typeface="Segoe UI" pitchFamily="34" charset="0"/>
                <a:ea typeface="Segoe UI" pitchFamily="34" charset="-122"/>
                <a:cs typeface="Segoe UI" pitchFamily="34" charset="-120"/>
              </a:rPr>
              <a:t>इंटरनेट बंद होने पर भी लोकल LAN DB पर बिना रुके काम चलता है। डीलरशिप का काम कभी बंद नहीं होता।</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731520"/>
            <a:ext cx="3200400" cy="320040"/>
          </a:xfrm>
          <a:prstGeom prst="roundRect">
            <a:avLst>
              <a:gd name="adj" fmla="val 22857"/>
            </a:avLst>
          </a:prstGeom>
          <a:solidFill>
            <a:srgbClr val="1E293B"/>
          </a:solidFill>
          <a:ln w="19050">
            <a:solidFill>
              <a:srgbClr val="2563EB"/>
            </a:solidFill>
            <a:prstDash val="solid"/>
          </a:ln>
        </p:spPr>
      </p:sp>
      <p:sp>
        <p:nvSpPr>
          <p:cNvPr id="3" name="Text 1"/>
          <p:cNvSpPr/>
          <p:nvPr/>
        </p:nvSpPr>
        <p:spPr>
          <a:xfrm>
            <a:off x="731520" y="731520"/>
            <a:ext cx="3200400" cy="320040"/>
          </a:xfrm>
          <a:prstGeom prst="rect">
            <a:avLst/>
          </a:prstGeom>
          <a:noFill/>
          <a:ln/>
        </p:spPr>
        <p:txBody>
          <a:bodyPr wrap="square" rtlCol="0" anchor="ctr"/>
          <a:lstStyle/>
          <a:p>
            <a:pPr algn="ctr" indent="0" marL="0">
              <a:buNone/>
            </a:pPr>
            <a:r>
              <a:rPr lang="en-US" sz="950" b="1" dirty="0">
                <a:solidFill>
                  <a:srgbClr val="60A5FA"/>
                </a:solidFill>
                <a:latin typeface="Segoe UI" pitchFamily="34" charset="0"/>
                <a:ea typeface="Segoe UI" pitchFamily="34" charset="-122"/>
                <a:cs typeface="Segoe UI" pitchFamily="34" charset="-120"/>
              </a:rPr>
              <a:t>DEPLOYED &amp; PRODUCTION READY</a:t>
            </a:r>
            <a:endParaRPr lang="en-US" sz="950" dirty="0"/>
          </a:p>
        </p:txBody>
      </p:sp>
      <p:sp>
        <p:nvSpPr>
          <p:cNvPr id="4" name="Text 2"/>
          <p:cNvSpPr/>
          <p:nvPr/>
        </p:nvSpPr>
        <p:spPr>
          <a:xfrm>
            <a:off x="731520" y="1234440"/>
            <a:ext cx="9601200" cy="731520"/>
          </a:xfrm>
          <a:prstGeom prst="rect">
            <a:avLst/>
          </a:prstGeom>
          <a:noFill/>
          <a:ln/>
        </p:spPr>
        <p:txBody>
          <a:bodyPr wrap="square" rtlCol="0" anchor="ctr"/>
          <a:lstStyle/>
          <a:p>
            <a:pPr indent="0" marL="0">
              <a:buNone/>
            </a:pPr>
            <a:r>
              <a:rPr lang="en-US" sz="2800" b="1" dirty="0">
                <a:solidFill>
                  <a:srgbClr val="FFFFFF"/>
                </a:solidFill>
                <a:latin typeface="Segoe UI" pitchFamily="34" charset="0"/>
                <a:ea typeface="Segoe UI" pitchFamily="34" charset="-122"/>
                <a:cs typeface="Segoe UI" pitchFamily="34" charset="-120"/>
              </a:rPr>
              <a:t>AutoPrime PDI Platform: आपका संपूर्ण डीलरशिप साथी</a:t>
            </a:r>
            <a:endParaRPr lang="en-US" sz="2800" dirty="0"/>
          </a:p>
        </p:txBody>
      </p:sp>
      <p:sp>
        <p:nvSpPr>
          <p:cNvPr id="5" name="Text 3"/>
          <p:cNvSpPr/>
          <p:nvPr/>
        </p:nvSpPr>
        <p:spPr>
          <a:xfrm>
            <a:off x="731520" y="1965960"/>
            <a:ext cx="9601200" cy="5486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यह सॉफ़्टवेयर आपकी डीलरशिप के समय, पैसे और प्रतिष्ठा की रक्षा करता है। नीचे दी गई लिंक्स पर जाकर तुरंत इसका उपयोग शुरू करें:</a:t>
            </a:r>
            <a:endParaRPr lang="en-US" sz="1200" dirty="0"/>
          </a:p>
        </p:txBody>
      </p:sp>
      <p:sp>
        <p:nvSpPr>
          <p:cNvPr id="6" name="Shape 4"/>
          <p:cNvSpPr/>
          <p:nvPr/>
        </p:nvSpPr>
        <p:spPr>
          <a:xfrm>
            <a:off x="731520" y="2651760"/>
            <a:ext cx="10725912" cy="731520"/>
          </a:xfrm>
          <a:prstGeom prst="roundRect">
            <a:avLst>
              <a:gd name="adj" fmla="val 10000"/>
            </a:avLst>
          </a:prstGeom>
          <a:solidFill>
            <a:srgbClr val="1E293B"/>
          </a:solidFill>
          <a:ln w="12700">
            <a:solidFill>
              <a:srgbClr val="334155"/>
            </a:solidFill>
            <a:prstDash val="solid"/>
          </a:ln>
        </p:spPr>
      </p:sp>
      <p:sp>
        <p:nvSpPr>
          <p:cNvPr id="7" name="Text 5"/>
          <p:cNvSpPr/>
          <p:nvPr/>
        </p:nvSpPr>
        <p:spPr>
          <a:xfrm>
            <a:off x="1005840" y="2788920"/>
            <a:ext cx="3200400" cy="228600"/>
          </a:xfrm>
          <a:prstGeom prst="rect">
            <a:avLst/>
          </a:prstGeom>
          <a:noFill/>
          <a:ln/>
        </p:spPr>
        <p:txBody>
          <a:bodyPr wrap="square" rtlCol="0" anchor="ctr"/>
          <a:lstStyle/>
          <a:p>
            <a:pPr indent="0" marL="0">
              <a:buNone/>
            </a:pPr>
            <a:r>
              <a:rPr lang="en-US" sz="1150" b="1" dirty="0">
                <a:solidFill>
                  <a:srgbClr val="60A5FA"/>
                </a:solidFill>
                <a:latin typeface="Segoe UI" pitchFamily="34" charset="0"/>
                <a:ea typeface="Segoe UI" pitchFamily="34" charset="-122"/>
                <a:cs typeface="Segoe UI" pitchFamily="34" charset="-120"/>
              </a:rPr>
              <a:t>Web Cockpit (Frontend)</a:t>
            </a:r>
            <a:endParaRPr lang="en-US" sz="1150" dirty="0"/>
          </a:p>
        </p:txBody>
      </p:sp>
      <p:sp>
        <p:nvSpPr>
          <p:cNvPr id="8" name="Text 6"/>
          <p:cNvSpPr/>
          <p:nvPr/>
        </p:nvSpPr>
        <p:spPr>
          <a:xfrm>
            <a:off x="1005840" y="3035808"/>
            <a:ext cx="4114800" cy="228600"/>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http://localhost:5173</a:t>
            </a:r>
            <a:endParaRPr lang="en-US" sz="950" dirty="0"/>
          </a:p>
        </p:txBody>
      </p:sp>
      <p:sp>
        <p:nvSpPr>
          <p:cNvPr id="9" name="Text 7"/>
          <p:cNvSpPr/>
          <p:nvPr/>
        </p:nvSpPr>
        <p:spPr>
          <a:xfrm>
            <a:off x="5303520" y="2880360"/>
            <a:ext cx="5943600" cy="320040"/>
          </a:xfrm>
          <a:prstGeom prst="rect">
            <a:avLst/>
          </a:prstGeom>
          <a:noFill/>
          <a:ln/>
        </p:spPr>
        <p:txBody>
          <a:bodyPr wrap="square" rtlCol="0" anchor="ctr"/>
          <a:lstStyle/>
          <a:p>
            <a:pPr algn="r" indent="0" marL="0">
              <a:buNone/>
            </a:pPr>
            <a:r>
              <a:rPr lang="en-US" sz="1000" dirty="0">
                <a:solidFill>
                  <a:srgbClr val="94A3B8"/>
                </a:solidFill>
                <a:latin typeface="Segoe UI" pitchFamily="34" charset="0"/>
                <a:ea typeface="Segoe UI" pitchFamily="34" charset="-122"/>
                <a:cs typeface="Segoe UI" pitchFamily="34" charset="-120"/>
              </a:rPr>
              <a:t>मुख्य यूजर इंटरफेस (PDI, Stock, Bookings, Challans)</a:t>
            </a:r>
            <a:endParaRPr lang="en-US" sz="1000" dirty="0"/>
          </a:p>
        </p:txBody>
      </p:sp>
      <p:sp>
        <p:nvSpPr>
          <p:cNvPr id="10" name="Shape 8"/>
          <p:cNvSpPr/>
          <p:nvPr/>
        </p:nvSpPr>
        <p:spPr>
          <a:xfrm>
            <a:off x="731520" y="3520440"/>
            <a:ext cx="10725912" cy="731520"/>
          </a:xfrm>
          <a:prstGeom prst="roundRect">
            <a:avLst>
              <a:gd name="adj" fmla="val 10000"/>
            </a:avLst>
          </a:prstGeom>
          <a:solidFill>
            <a:srgbClr val="1E293B"/>
          </a:solidFill>
          <a:ln w="12700">
            <a:solidFill>
              <a:srgbClr val="334155"/>
            </a:solidFill>
            <a:prstDash val="solid"/>
          </a:ln>
        </p:spPr>
      </p:sp>
      <p:sp>
        <p:nvSpPr>
          <p:cNvPr id="11" name="Text 9"/>
          <p:cNvSpPr/>
          <p:nvPr/>
        </p:nvSpPr>
        <p:spPr>
          <a:xfrm>
            <a:off x="1005840" y="3657600"/>
            <a:ext cx="3200400" cy="228600"/>
          </a:xfrm>
          <a:prstGeom prst="rect">
            <a:avLst/>
          </a:prstGeom>
          <a:noFill/>
          <a:ln/>
        </p:spPr>
        <p:txBody>
          <a:bodyPr wrap="square" rtlCol="0" anchor="ctr"/>
          <a:lstStyle/>
          <a:p>
            <a:pPr indent="0" marL="0">
              <a:buNone/>
            </a:pPr>
            <a:r>
              <a:rPr lang="en-US" sz="1150" b="1" dirty="0">
                <a:solidFill>
                  <a:srgbClr val="60A5FA"/>
                </a:solidFill>
                <a:latin typeface="Segoe UI" pitchFamily="34" charset="0"/>
                <a:ea typeface="Segoe UI" pitchFamily="34" charset="-122"/>
                <a:cs typeface="Segoe UI" pitchFamily="34" charset="-120"/>
              </a:rPr>
              <a:t>Local DB API Server</a:t>
            </a:r>
            <a:endParaRPr lang="en-US" sz="1150" dirty="0"/>
          </a:p>
        </p:txBody>
      </p:sp>
      <p:sp>
        <p:nvSpPr>
          <p:cNvPr id="12" name="Text 10"/>
          <p:cNvSpPr/>
          <p:nvPr/>
        </p:nvSpPr>
        <p:spPr>
          <a:xfrm>
            <a:off x="1005840" y="3904488"/>
            <a:ext cx="4114800" cy="228600"/>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http://localhost:54321/rest/v1</a:t>
            </a:r>
            <a:endParaRPr lang="en-US" sz="950" dirty="0"/>
          </a:p>
        </p:txBody>
      </p:sp>
      <p:sp>
        <p:nvSpPr>
          <p:cNvPr id="13" name="Text 11"/>
          <p:cNvSpPr/>
          <p:nvPr/>
        </p:nvSpPr>
        <p:spPr>
          <a:xfrm>
            <a:off x="5303520" y="3749040"/>
            <a:ext cx="5943600" cy="320040"/>
          </a:xfrm>
          <a:prstGeom prst="rect">
            <a:avLst/>
          </a:prstGeom>
          <a:noFill/>
          <a:ln/>
        </p:spPr>
        <p:txBody>
          <a:bodyPr wrap="square" rtlCol="0" anchor="ctr"/>
          <a:lstStyle/>
          <a:p>
            <a:pPr algn="r" indent="0" marL="0">
              <a:buNone/>
            </a:pPr>
            <a:r>
              <a:rPr lang="en-US" sz="1000" dirty="0">
                <a:solidFill>
                  <a:srgbClr val="94A3B8"/>
                </a:solidFill>
                <a:latin typeface="Segoe UI" pitchFamily="34" charset="0"/>
                <a:ea typeface="Segoe UI" pitchFamily="34" charset="-122"/>
                <a:cs typeface="Segoe UI" pitchFamily="34" charset="-120"/>
              </a:rPr>
              <a:t>लोकल LAN डेटाबेस (Offline-Ready Resilience)</a:t>
            </a:r>
            <a:endParaRPr lang="en-US" sz="1000" dirty="0"/>
          </a:p>
        </p:txBody>
      </p:sp>
      <p:sp>
        <p:nvSpPr>
          <p:cNvPr id="14" name="Shape 12"/>
          <p:cNvSpPr/>
          <p:nvPr/>
        </p:nvSpPr>
        <p:spPr>
          <a:xfrm>
            <a:off x="731520" y="4389120"/>
            <a:ext cx="10725912" cy="731520"/>
          </a:xfrm>
          <a:prstGeom prst="roundRect">
            <a:avLst>
              <a:gd name="adj" fmla="val 10000"/>
            </a:avLst>
          </a:prstGeom>
          <a:solidFill>
            <a:srgbClr val="1E293B"/>
          </a:solidFill>
          <a:ln w="12700">
            <a:solidFill>
              <a:srgbClr val="334155"/>
            </a:solidFill>
            <a:prstDash val="solid"/>
          </a:ln>
        </p:spPr>
      </p:sp>
      <p:sp>
        <p:nvSpPr>
          <p:cNvPr id="15" name="Text 13"/>
          <p:cNvSpPr/>
          <p:nvPr/>
        </p:nvSpPr>
        <p:spPr>
          <a:xfrm>
            <a:off x="1005840" y="4526280"/>
            <a:ext cx="3200400" cy="228600"/>
          </a:xfrm>
          <a:prstGeom prst="rect">
            <a:avLst/>
          </a:prstGeom>
          <a:noFill/>
          <a:ln/>
        </p:spPr>
        <p:txBody>
          <a:bodyPr wrap="square" rtlCol="0" anchor="ctr"/>
          <a:lstStyle/>
          <a:p>
            <a:pPr indent="0" marL="0">
              <a:buNone/>
            </a:pPr>
            <a:r>
              <a:rPr lang="en-US" sz="1150" b="1" dirty="0">
                <a:solidFill>
                  <a:srgbClr val="60A5FA"/>
                </a:solidFill>
                <a:latin typeface="Segoe UI" pitchFamily="34" charset="0"/>
                <a:ea typeface="Segoe UI" pitchFamily="34" charset="-122"/>
                <a:cs typeface="Segoe UI" pitchFamily="34" charset="-120"/>
              </a:rPr>
              <a:t>Cloud Worker API</a:t>
            </a:r>
            <a:endParaRPr lang="en-US" sz="1150" dirty="0"/>
          </a:p>
        </p:txBody>
      </p:sp>
      <p:sp>
        <p:nvSpPr>
          <p:cNvPr id="16" name="Text 14"/>
          <p:cNvSpPr/>
          <p:nvPr/>
        </p:nvSpPr>
        <p:spPr>
          <a:xfrm>
            <a:off x="1005840" y="4773168"/>
            <a:ext cx="4114800" cy="228600"/>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http://localhost:8787</a:t>
            </a:r>
            <a:endParaRPr lang="en-US" sz="950" dirty="0"/>
          </a:p>
        </p:txBody>
      </p:sp>
      <p:sp>
        <p:nvSpPr>
          <p:cNvPr id="17" name="Text 15"/>
          <p:cNvSpPr/>
          <p:nvPr/>
        </p:nvSpPr>
        <p:spPr>
          <a:xfrm>
            <a:off x="5303520" y="4617720"/>
            <a:ext cx="5943600" cy="320040"/>
          </a:xfrm>
          <a:prstGeom prst="rect">
            <a:avLst/>
          </a:prstGeom>
          <a:noFill/>
          <a:ln/>
        </p:spPr>
        <p:txBody>
          <a:bodyPr wrap="square" rtlCol="0" anchor="ctr"/>
          <a:lstStyle/>
          <a:p>
            <a:pPr algn="r" indent="0" marL="0">
              <a:buNone/>
            </a:pPr>
            <a:r>
              <a:rPr lang="en-US" sz="1000" dirty="0">
                <a:solidFill>
                  <a:srgbClr val="94A3B8"/>
                </a:solidFill>
                <a:latin typeface="Segoe UI" pitchFamily="34" charset="0"/>
                <a:ea typeface="Segoe UI" pitchFamily="34" charset="-122"/>
                <a:cs typeface="Segoe UI" pitchFamily="34" charset="-120"/>
              </a:rPr>
              <a:t>क्लाउड सिंक &amp; ऑथेंटिकेशन इंजन</a:t>
            </a:r>
            <a:endParaRPr lang="en-US" sz="1000" dirty="0"/>
          </a:p>
        </p:txBody>
      </p:sp>
      <p:sp>
        <p:nvSpPr>
          <p:cNvPr id="18" name="Shape 16"/>
          <p:cNvSpPr/>
          <p:nvPr/>
        </p:nvSpPr>
        <p:spPr>
          <a:xfrm>
            <a:off x="731520" y="5257800"/>
            <a:ext cx="10725912" cy="731520"/>
          </a:xfrm>
          <a:prstGeom prst="roundRect">
            <a:avLst>
              <a:gd name="adj" fmla="val 10000"/>
            </a:avLst>
          </a:prstGeom>
          <a:solidFill>
            <a:srgbClr val="1E293B"/>
          </a:solidFill>
          <a:ln w="12700">
            <a:solidFill>
              <a:srgbClr val="334155"/>
            </a:solidFill>
            <a:prstDash val="solid"/>
          </a:ln>
        </p:spPr>
      </p:sp>
      <p:sp>
        <p:nvSpPr>
          <p:cNvPr id="19" name="Text 17"/>
          <p:cNvSpPr/>
          <p:nvPr/>
        </p:nvSpPr>
        <p:spPr>
          <a:xfrm>
            <a:off x="1005840" y="5394960"/>
            <a:ext cx="3200400" cy="228600"/>
          </a:xfrm>
          <a:prstGeom prst="rect">
            <a:avLst/>
          </a:prstGeom>
          <a:noFill/>
          <a:ln/>
        </p:spPr>
        <p:txBody>
          <a:bodyPr wrap="square" rtlCol="0" anchor="ctr"/>
          <a:lstStyle/>
          <a:p>
            <a:pPr indent="0" marL="0">
              <a:buNone/>
            </a:pPr>
            <a:r>
              <a:rPr lang="en-US" sz="1150" b="1" dirty="0">
                <a:solidFill>
                  <a:srgbClr val="60A5FA"/>
                </a:solidFill>
                <a:latin typeface="Segoe UI" pitchFamily="34" charset="0"/>
                <a:ea typeface="Segoe UI" pitchFamily="34" charset="-122"/>
                <a:cs typeface="Segoe UI" pitchFamily="34" charset="-120"/>
              </a:rPr>
              <a:t>GitHub Master Repository</a:t>
            </a:r>
            <a:endParaRPr lang="en-US" sz="1150" dirty="0"/>
          </a:p>
        </p:txBody>
      </p:sp>
      <p:sp>
        <p:nvSpPr>
          <p:cNvPr id="20" name="Text 18"/>
          <p:cNvSpPr/>
          <p:nvPr/>
        </p:nvSpPr>
        <p:spPr>
          <a:xfrm>
            <a:off x="1005840" y="5641848"/>
            <a:ext cx="4114800" cy="228600"/>
          </a:xfrm>
          <a:prstGeom prst="rect">
            <a:avLst/>
          </a:prstGeom>
          <a:noFill/>
          <a:ln/>
        </p:spPr>
        <p:txBody>
          <a:bodyPr wrap="square" rtlCol="0" anchor="ctr"/>
          <a:lstStyle/>
          <a:p>
            <a:pPr indent="0" marL="0">
              <a:buNone/>
            </a:pPr>
            <a:r>
              <a:rPr lang="en-US" sz="950" dirty="0">
                <a:solidFill>
                  <a:srgbClr val="FFFFFF"/>
                </a:solidFill>
                <a:latin typeface="Segoe UI" pitchFamily="34" charset="0"/>
                <a:ea typeface="Segoe UI" pitchFamily="34" charset="-122"/>
                <a:cs typeface="Segoe UI" pitchFamily="34" charset="-120"/>
              </a:rPr>
              <a:t>https://github.com/Rajni933/pdisoftware.git</a:t>
            </a:r>
            <a:endParaRPr lang="en-US" sz="950" dirty="0"/>
          </a:p>
        </p:txBody>
      </p:sp>
      <p:sp>
        <p:nvSpPr>
          <p:cNvPr id="21" name="Text 19"/>
          <p:cNvSpPr/>
          <p:nvPr/>
        </p:nvSpPr>
        <p:spPr>
          <a:xfrm>
            <a:off x="5303520" y="5486400"/>
            <a:ext cx="5943600" cy="320040"/>
          </a:xfrm>
          <a:prstGeom prst="rect">
            <a:avLst/>
          </a:prstGeom>
          <a:noFill/>
          <a:ln/>
        </p:spPr>
        <p:txBody>
          <a:bodyPr wrap="square" rtlCol="0" anchor="ctr"/>
          <a:lstStyle/>
          <a:p>
            <a:pPr algn="r" indent="0" marL="0">
              <a:buNone/>
            </a:pPr>
            <a:r>
              <a:rPr lang="en-US" sz="1000" dirty="0">
                <a:solidFill>
                  <a:srgbClr val="94A3B8"/>
                </a:solidFill>
                <a:latin typeface="Segoe UI" pitchFamily="34" charset="0"/>
                <a:ea typeface="Segoe UI" pitchFamily="34" charset="-122"/>
                <a:cs typeface="Segoe UI" pitchFamily="34" charset="-120"/>
              </a:rPr>
              <a:t>सुरक्षित कोडबेस एवं वर्ज़न कंट्रोल</a:t>
            </a:r>
            <a:endParaRPr lang="en-US" sz="1000" dirty="0"/>
          </a:p>
        </p:txBody>
      </p:sp>
      <p:sp>
        <p:nvSpPr>
          <p:cNvPr id="22" name="Text 20"/>
          <p:cNvSpPr/>
          <p:nvPr/>
        </p:nvSpPr>
        <p:spPr>
          <a:xfrm>
            <a:off x="731520" y="6263640"/>
            <a:ext cx="10725912" cy="274320"/>
          </a:xfrm>
          <a:prstGeom prst="rect">
            <a:avLst/>
          </a:prstGeom>
          <a:noFill/>
          <a:ln/>
        </p:spPr>
        <p:txBody>
          <a:bodyPr wrap="square" rtlCol="0" anchor="ctr"/>
          <a:lstStyle/>
          <a:p>
            <a:pPr algn="ctr" indent="0" marL="0">
              <a:buNone/>
            </a:pPr>
            <a:r>
              <a:rPr lang="en-US" sz="950" dirty="0">
                <a:solidFill>
                  <a:srgbClr val="64748B"/>
                </a:solidFill>
                <a:latin typeface="Segoe UI" pitchFamily="34" charset="0"/>
                <a:ea typeface="Segoe UI" pitchFamily="34" charset="-122"/>
                <a:cs typeface="Segoe UI" pitchFamily="34" charset="-120"/>
              </a:rPr>
              <a:t>© 2026 AutoPrime Platform  |  Dhoot Group Automotive Systems  |  All Rights Reserved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Dhoot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AutoPrime PDI Platform - Enterprise Overview &amp; SOP Guide</dc:title>
  <dc:subject>PptxGenJS Presentation</dc:subject>
  <dc:creator>AutoPrime Platform</dc:creator>
  <cp:lastModifiedBy>AutoPrime Platform</cp:lastModifiedBy>
  <cp:revision>1</cp:revision>
  <dcterms:created xsi:type="dcterms:W3CDTF">2026-10-01T10:02:30Z</dcterms:created>
  <dcterms:modified xsi:type="dcterms:W3CDTF">2026-10-01T10:02:30Z</dcterms:modified>
</cp:coreProperties>
</file>